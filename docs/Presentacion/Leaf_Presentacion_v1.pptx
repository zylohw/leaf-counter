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30e9c367-b979-3f7f-5958-f678b69291d7}">
          <p14:sldIdLst>
            <p14:sldId id="256"/>
            <p14:sldId id="257"/>
            <p14:sldId id="258"/>
          </p14:sldIdLst>
        </p14:section>
        <p14:section name="La solución" id="{f9761e9a-3cac-3892-8116-39919e966c10}">
          <p14:sldIdLst>
            <p14:sldId id="259"/>
            <p14:sldId id="260"/>
          </p14:sldIdLst>
        </p14:section>
        <p14:section name="Vistas de la app" id="{a5467ade-03ad-282e-e105-fa3bdb701260}">
          <p14:sldIdLst>
            <p14:sldId id="261"/>
            <p14:sldId id="262"/>
            <p14:sldId id="263"/>
          </p14:sldIdLst>
        </p14:section>
        <p14:section name="Arquitectura" id="{e40cea07-9025-f7f9-56fa-af011928308a}">
          <p14:sldIdLst>
            <p14:sldId id="264"/>
            <p14:sldId id="265"/>
            <p14:sldId id="266"/>
            <p14:sldId id="267"/>
          </p14:sldIdLst>
        </p14:section>
        <p14:section name="Gestión del proyecto" id="{f0c4a4a4-f647-6b68-2c75-61bbdcc4f549}">
          <p14:sldIdLst>
            <p14:sldId id="268"/>
            <p14:sldId id="269"/>
            <p14:sldId id="270"/>
          </p14:sldIdLst>
        </p14:section>
        <p14:section name="Diagramas" id="{8e8ef633-3576-e3a1-1046-69a3a05cd28b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de la presentación de 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0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rculo 1"/>
          <p:cNvSpPr/>
          <p:nvPr/>
        </p:nvSpPr>
        <p:spPr>
          <a:xfrm>
            <a:off x="5669280" y="-1097280"/>
            <a:ext cx="4754880" cy="4754880"/>
          </a:xfrm>
          <a:prstGeom prst="ellipse">
            <a:avLst/>
          </a:prstGeom>
          <a:solidFill>
            <a:schemeClr val="tx2">
              <a:alpha val="3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decor circulo 2"/>
          <p:cNvSpPr/>
          <p:nvPr/>
        </p:nvSpPr>
        <p:spPr>
          <a:xfrm>
            <a:off x="6949440" y="2651760"/>
            <a:ext cx="3291840" cy="3291840"/>
          </a:xfrm>
          <a:prstGeom prst="ellipse">
            <a:avLst/>
          </a:prstGeom>
          <a:solidFill>
            <a:schemeClr val="accent4">
              <a:alpha val="25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marco Admin/Home.png"/>
          <p:cNvSpPr/>
          <p:nvPr/>
        </p:nvSpPr>
        <p:spPr>
          <a:xfrm>
            <a:off x="5751576" y="630936"/>
            <a:ext cx="1481328" cy="3202404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captura Admin/Home.png" descr="/home/claude/vistas/Leaf Vistas Finales/Admin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685800"/>
            <a:ext cx="1371600" cy="3092676"/>
          </a:xfrm>
          <a:prstGeom prst="rect">
            <a:avLst/>
          </a:prstGeom>
        </p:spPr>
      </p:pic>
      <p:sp>
        <p:nvSpPr>
          <p:cNvPr id="6" name="marco Usuario Comun/Home 1.png"/>
          <p:cNvSpPr/>
          <p:nvPr/>
        </p:nvSpPr>
        <p:spPr>
          <a:xfrm>
            <a:off x="7260336" y="1088136"/>
            <a:ext cx="1481328" cy="3223222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7" name="captura Usuario Comun/Home 1.png" descr="/home/claude/vistas/Leaf Vistas Finales/Usuario Comun/Home 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143000"/>
            <a:ext cx="1371600" cy="311349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11887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5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031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lectura y monitoreo de contadores de agua</a:t>
            </a:r>
            <a:endParaRPr lang="en-US" sz="1800" dirty="0"/>
          </a:p>
        </p:txBody>
      </p:sp>
      <p:sp>
        <p:nvSpPr>
          <p:cNvPr id="10" name="chip 1"/>
          <p:cNvSpPr/>
          <p:nvPr/>
        </p:nvSpPr>
        <p:spPr>
          <a:xfrm>
            <a:off x="548640" y="2926080"/>
            <a:ext cx="1554480" cy="347472"/>
          </a:xfrm>
          <a:prstGeom prst="roundRect">
            <a:avLst>
              <a:gd name="adj" fmla="val 15789"/>
            </a:avLst>
          </a:prstGeom>
          <a:solidFill>
            <a:schemeClr val="tx2">
              <a:alpha val="5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2926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— Flutter</a:t>
            </a:r>
            <a:endParaRPr lang="en-US" sz="1100" dirty="0"/>
          </a:p>
        </p:txBody>
      </p:sp>
      <p:sp>
        <p:nvSpPr>
          <p:cNvPr id="12" name="chip 2"/>
          <p:cNvSpPr/>
          <p:nvPr/>
        </p:nvSpPr>
        <p:spPr>
          <a:xfrm>
            <a:off x="2240280" y="2926080"/>
            <a:ext cx="1554480" cy="347472"/>
          </a:xfrm>
          <a:prstGeom prst="roundRect">
            <a:avLst>
              <a:gd name="adj" fmla="val 15789"/>
            </a:avLst>
          </a:prstGeom>
          <a:solidFill>
            <a:schemeClr val="tx2">
              <a:alpha val="5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240280" y="2926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— Express</a:t>
            </a:r>
            <a:endParaRPr lang="en-US" sz="1100" dirty="0"/>
          </a:p>
        </p:txBody>
      </p:sp>
      <p:sp>
        <p:nvSpPr>
          <p:cNvPr id="14" name="chip 3"/>
          <p:cNvSpPr/>
          <p:nvPr/>
        </p:nvSpPr>
        <p:spPr>
          <a:xfrm>
            <a:off x="3931920" y="2926080"/>
            <a:ext cx="1554480" cy="347472"/>
          </a:xfrm>
          <a:prstGeom prst="roundRect">
            <a:avLst>
              <a:gd name="adj" fmla="val 15789"/>
            </a:avLst>
          </a:prstGeom>
          <a:solidFill>
            <a:schemeClr val="tx2">
              <a:alpha val="5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931920" y="292608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AWS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4114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FISICC · Ingeniería de Software · Catedrático: Ing. Axel Benavides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43891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Pablo Vásquez — 23004631  ·  Mario Blanco — 24002578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 problema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necesitamos Leaf?</a:t>
            </a:r>
            <a:endParaRPr lang="en-US" sz="1400" dirty="0"/>
          </a:p>
        </p:txBody>
      </p:sp>
      <p:sp>
        <p:nvSpPr>
          <p:cNvPr id="4" name="tarjeta problema 1"/>
          <p:cNvSpPr/>
          <p:nvPr/>
        </p:nvSpPr>
        <p:spPr>
          <a:xfrm>
            <a:off x="457200" y="132588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problema 1 circulo"/>
          <p:cNvSpPr/>
          <p:nvPr/>
        </p:nvSpPr>
        <p:spPr>
          <a:xfrm>
            <a:off x="640080" y="1600200"/>
            <a:ext cx="548640" cy="54864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6" name="problema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4356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737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residentes no conocen su consumo hasta que reciben la factura, y no pueden detectar a tiempo una fuga.</a:t>
            </a:r>
            <a:endParaRPr lang="en-US" sz="1200" dirty="0"/>
          </a:p>
        </p:txBody>
      </p:sp>
      <p:sp>
        <p:nvSpPr>
          <p:cNvPr id="9" name="tarjeta problema 2"/>
          <p:cNvSpPr/>
          <p:nvPr/>
        </p:nvSpPr>
        <p:spPr>
          <a:xfrm>
            <a:off x="4663440" y="132588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0" name="problema 2 circulo"/>
          <p:cNvSpPr/>
          <p:nvPr/>
        </p:nvSpPr>
        <p:spPr>
          <a:xfrm>
            <a:off x="4846320" y="1600200"/>
            <a:ext cx="548640" cy="54864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11" name="problema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73736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577840" y="143560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evidencia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577840" y="173736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foto de la lectura, lo que genera disputas entre residentes y administración.</a:t>
            </a:r>
            <a:endParaRPr lang="en-US" sz="1200" dirty="0"/>
          </a:p>
        </p:txBody>
      </p:sp>
      <p:sp>
        <p:nvSpPr>
          <p:cNvPr id="14" name="tarjeta problema 3"/>
          <p:cNvSpPr/>
          <p:nvPr/>
        </p:nvSpPr>
        <p:spPr>
          <a:xfrm>
            <a:off x="457200" y="256032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5" name="problema 3 circulo"/>
          <p:cNvSpPr/>
          <p:nvPr/>
        </p:nvSpPr>
        <p:spPr>
          <a:xfrm>
            <a:off x="640080" y="2834640"/>
            <a:ext cx="548640" cy="54864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16" name="problema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9718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371600" y="267004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lento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37160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personal anota en papel y luego pasa los datos a Excel para avisar a cada vecino.</a:t>
            </a:r>
            <a:endParaRPr lang="en-US" sz="1200" dirty="0"/>
          </a:p>
        </p:txBody>
      </p:sp>
      <p:sp>
        <p:nvSpPr>
          <p:cNvPr id="19" name="tarjeta problema 4"/>
          <p:cNvSpPr/>
          <p:nvPr/>
        </p:nvSpPr>
        <p:spPr>
          <a:xfrm>
            <a:off x="4663440" y="2560320"/>
            <a:ext cx="4023360" cy="109728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0" name="problema 4 circulo"/>
          <p:cNvSpPr/>
          <p:nvPr/>
        </p:nvSpPr>
        <p:spPr>
          <a:xfrm>
            <a:off x="4846320" y="2834640"/>
            <a:ext cx="548640" cy="54864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21" name="problema 4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29718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77840" y="267004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humanos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5577840" y="297180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cálculos de consumo se hacen a mano, con riesgo de equivocarse.</a:t>
            </a:r>
            <a:endParaRPr lang="en-US" sz="1200" dirty="0"/>
          </a:p>
        </p:txBody>
      </p:sp>
      <p:sp>
        <p:nvSpPr>
          <p:cNvPr id="24" name="banda dato"/>
          <p:cNvSpPr/>
          <p:nvPr/>
        </p:nvSpPr>
        <p:spPr>
          <a:xfrm>
            <a:off x="457200" y="3931920"/>
            <a:ext cx="8229600" cy="457200"/>
          </a:xfrm>
          <a:prstGeom prst="roundRect">
            <a:avLst>
              <a:gd name="adj" fmla="val 12000"/>
            </a:avLst>
          </a:prstGeom>
          <a:solidFill>
            <a:schemeClr val="accent2">
              <a:alpha val="30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en Guatemala no existe una herramienta digital para este proceso: se parte desde cero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Objetivos del proyecto</a:t>
            </a:r>
            <a:endParaRPr lang="en-US" sz="3000" dirty="0"/>
          </a:p>
        </p:txBody>
      </p:sp>
      <p:sp>
        <p:nvSpPr>
          <p:cNvPr id="3" name="objetivo general"/>
          <p:cNvSpPr/>
          <p:nvPr/>
        </p:nvSpPr>
        <p:spPr>
          <a:xfrm>
            <a:off x="457200" y="109728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475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la lectura de contadores de agua en condominios, registrando evidencia fotográfica, controlando las fechas de lectura y notificando a los residentes sus resultados.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100" dirty="0"/>
          </a:p>
        </p:txBody>
      </p:sp>
      <p:sp>
        <p:nvSpPr>
          <p:cNvPr id="7" name="objetivo especifico 1"/>
          <p:cNvSpPr/>
          <p:nvPr/>
        </p:nvSpPr>
        <p:spPr>
          <a:xfrm>
            <a:off x="457200" y="269748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8" name="num 1"/>
          <p:cNvSpPr/>
          <p:nvPr/>
        </p:nvSpPr>
        <p:spPr>
          <a:xfrm>
            <a:off x="640080" y="2852928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52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8529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automático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4290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mensual comparando la lectura actual con la anterior, sin errores de cálculo manual.</a:t>
            </a:r>
            <a:endParaRPr lang="en-US" sz="1200" dirty="0"/>
          </a:p>
        </p:txBody>
      </p:sp>
      <p:sp>
        <p:nvSpPr>
          <p:cNvPr id="12" name="objetivo especifico 2"/>
          <p:cNvSpPr/>
          <p:nvPr/>
        </p:nvSpPr>
        <p:spPr>
          <a:xfrm>
            <a:off x="3246120" y="269748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3" name="num 2"/>
          <p:cNvSpPr/>
          <p:nvPr/>
        </p:nvSpPr>
        <p:spPr>
          <a:xfrm>
            <a:off x="3429000" y="2852928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2852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977640" y="28529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por unidad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34290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lecturas y consumos disponible para el residente y la administración.</a:t>
            </a:r>
            <a:endParaRPr lang="en-US" sz="1200" dirty="0"/>
          </a:p>
        </p:txBody>
      </p:sp>
      <p:sp>
        <p:nvSpPr>
          <p:cNvPr id="17" name="objetivo especifico 3"/>
          <p:cNvSpPr/>
          <p:nvPr/>
        </p:nvSpPr>
        <p:spPr>
          <a:xfrm>
            <a:off x="6035040" y="2697480"/>
            <a:ext cx="2651760" cy="1737360"/>
          </a:xfrm>
          <a:prstGeom prst="roundRect">
            <a:avLst>
              <a:gd name="adj" fmla="val 4211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num 3"/>
          <p:cNvSpPr/>
          <p:nvPr/>
        </p:nvSpPr>
        <p:spPr>
          <a:xfrm>
            <a:off x="6217920" y="2852928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17920" y="28529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8529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al residente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34290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y consumo del mes, indicando si estuvo dentro de un rango normal o excesivo.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0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Usuarios del sistema</a:t>
            </a:r>
            <a:endParaRPr lang="en-US" sz="3000" dirty="0"/>
          </a:p>
        </p:txBody>
      </p:sp>
      <p:sp>
        <p:nvSpPr>
          <p:cNvPr id="3" name="tarjeta rol 1"/>
          <p:cNvSpPr/>
          <p:nvPr/>
        </p:nvSpPr>
        <p:spPr>
          <a:xfrm>
            <a:off x="457200" y="1188720"/>
            <a:ext cx="2651760" cy="32004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4" name="rol 1 circulo"/>
          <p:cNvSpPr/>
          <p:nvPr/>
        </p:nvSpPr>
        <p:spPr>
          <a:xfrm>
            <a:off x="1371600" y="1417320"/>
            <a:ext cx="822960" cy="82296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5" name="rol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162306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346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Programa los ciclos de lectura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Supervisa el estado de todas las viviendas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Gestiona alertas y crea usuarios de mantenimiento</a:t>
            </a:r>
            <a:endParaRPr lang="en-US" sz="1200" dirty="0"/>
          </a:p>
        </p:txBody>
      </p:sp>
      <p:sp>
        <p:nvSpPr>
          <p:cNvPr id="8" name="tarjeta rol 2"/>
          <p:cNvSpPr/>
          <p:nvPr/>
        </p:nvSpPr>
        <p:spPr>
          <a:xfrm>
            <a:off x="3246120" y="1188720"/>
            <a:ext cx="2651760" cy="32004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9" name="rol 2 circulo"/>
          <p:cNvSpPr/>
          <p:nvPr/>
        </p:nvSpPr>
        <p:spPr>
          <a:xfrm>
            <a:off x="4160520" y="1417320"/>
            <a:ext cx="822960" cy="82296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10" name="rol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260" y="162306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474720" y="28346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Ve las casas asignadas para lectura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Registra la medición con foto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Emite el reporte en PDF</a:t>
            </a:r>
            <a:endParaRPr lang="en-US" sz="1200" dirty="0"/>
          </a:p>
        </p:txBody>
      </p:sp>
      <p:sp>
        <p:nvSpPr>
          <p:cNvPr id="13" name="tarjeta rol 3"/>
          <p:cNvSpPr/>
          <p:nvPr/>
        </p:nvSpPr>
        <p:spPr>
          <a:xfrm>
            <a:off x="6035040" y="1188720"/>
            <a:ext cx="2651760" cy="32004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4" name="rol 3 circulo"/>
          <p:cNvSpPr/>
          <p:nvPr/>
        </p:nvSpPr>
        <p:spPr>
          <a:xfrm>
            <a:off x="6949440" y="1417320"/>
            <a:ext cx="822960" cy="82296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15" name="rol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5180" y="162306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377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834640"/>
            <a:ext cx="2240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Consulta su consumo actual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Revisa el historial por mes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Recibe avisos y reportes de su vivienda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Funcionalidades principales</a:t>
            </a:r>
            <a:endParaRPr lang="en-US" sz="3000" dirty="0"/>
          </a:p>
        </p:txBody>
      </p:sp>
      <p:sp>
        <p:nvSpPr>
          <p:cNvPr id="3" name="tarjeta funcionalidad 1"/>
          <p:cNvSpPr/>
          <p:nvPr/>
        </p:nvSpPr>
        <p:spPr>
          <a:xfrm>
            <a:off x="457200" y="118872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4" name="func 1 circulo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5" name="func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34440" y="1353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con foto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385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personal registra la medición y la foto del contador como respaldo verificable.</a:t>
            </a:r>
            <a:endParaRPr lang="en-US" sz="1200" dirty="0"/>
          </a:p>
        </p:txBody>
      </p:sp>
      <p:sp>
        <p:nvSpPr>
          <p:cNvPr id="8" name="tarjeta funcionalidad 2"/>
          <p:cNvSpPr/>
          <p:nvPr/>
        </p:nvSpPr>
        <p:spPr>
          <a:xfrm>
            <a:off x="3246120" y="118872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9" name="func 2 circulo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10" name="func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3360" y="1353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automático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9385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consumo del período se calcula comparando con la lectura anterior.</a:t>
            </a:r>
            <a:endParaRPr lang="en-US" sz="1200" dirty="0"/>
          </a:p>
        </p:txBody>
      </p:sp>
      <p:sp>
        <p:nvSpPr>
          <p:cNvPr id="13" name="tarjeta funcionalidad 3"/>
          <p:cNvSpPr/>
          <p:nvPr/>
        </p:nvSpPr>
        <p:spPr>
          <a:xfrm>
            <a:off x="6035040" y="118872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4" name="func 3 circulo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15" name="func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13533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9385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administrador define fecha e indicaciones y controla lecturas pendientes.</a:t>
            </a:r>
            <a:endParaRPr lang="en-US" sz="1200" dirty="0"/>
          </a:p>
        </p:txBody>
      </p:sp>
      <p:sp>
        <p:nvSpPr>
          <p:cNvPr id="18" name="tarjeta funcionalidad 4"/>
          <p:cNvSpPr/>
          <p:nvPr/>
        </p:nvSpPr>
        <p:spPr>
          <a:xfrm>
            <a:off x="457200" y="283464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9" name="func 4 circulo"/>
          <p:cNvSpPr/>
          <p:nvPr/>
        </p:nvSpPr>
        <p:spPr>
          <a:xfrm>
            <a:off x="640080" y="2999232"/>
            <a:ext cx="457200" cy="45720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20" name="func 4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11353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29992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584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lectura programada y de reporte generado para cada vivienda.</a:t>
            </a:r>
            <a:endParaRPr lang="en-US" sz="1200" dirty="0"/>
          </a:p>
        </p:txBody>
      </p:sp>
      <p:sp>
        <p:nvSpPr>
          <p:cNvPr id="23" name="tarjeta funcionalidad 5"/>
          <p:cNvSpPr/>
          <p:nvPr/>
        </p:nvSpPr>
        <p:spPr>
          <a:xfrm>
            <a:off x="3246120" y="283464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4" name="func 5 circulo"/>
          <p:cNvSpPr/>
          <p:nvPr/>
        </p:nvSpPr>
        <p:spPr>
          <a:xfrm>
            <a:off x="3429000" y="2999232"/>
            <a:ext cx="457200" cy="45720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25" name="func 5 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0" y="3113532"/>
            <a:ext cx="228600" cy="22860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23360" y="29992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consumo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3429000" y="3584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Medidor de consumo actual y tabla mensual por vivienda.</a:t>
            </a:r>
            <a:endParaRPr lang="en-US" sz="1200" dirty="0"/>
          </a:p>
        </p:txBody>
      </p:sp>
      <p:sp>
        <p:nvSpPr>
          <p:cNvPr id="28" name="tarjeta funcionalidad 6"/>
          <p:cNvSpPr/>
          <p:nvPr/>
        </p:nvSpPr>
        <p:spPr>
          <a:xfrm>
            <a:off x="6035040" y="2834640"/>
            <a:ext cx="2651760" cy="14630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9" name="func 6 circulo"/>
          <p:cNvSpPr/>
          <p:nvPr/>
        </p:nvSpPr>
        <p:spPr>
          <a:xfrm>
            <a:off x="6217920" y="2999232"/>
            <a:ext cx="457200" cy="45720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30" name="func 6 i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3113532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12280" y="299923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en PDF</a:t>
            </a:r>
            <a:endParaRPr lang="en-US" sz="14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0" y="35844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con evidencia fotográfica, emitidos desde la app.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Vistas — Administrador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total del ciclo de lectura</a:t>
            </a:r>
            <a:endParaRPr lang="en-US" sz="1400" dirty="0"/>
          </a:p>
        </p:txBody>
      </p:sp>
      <p:sp>
        <p:nvSpPr>
          <p:cNvPr id="4" name="panel descripcion"/>
          <p:cNvSpPr/>
          <p:nvPr/>
        </p:nvSpPr>
        <p:spPr>
          <a:xfrm>
            <a:off x="457200" y="1325880"/>
            <a:ext cx="2834640" cy="3108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Progreso de lecturas con medidor y casas pendientes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Supervisión por período y estado de cada vivienda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Programación de lecturas con indicaciones</a:t>
            </a:r>
            <a:endParaRPr lang="en-US" sz="1400" dirty="0"/>
          </a:p>
        </p:txBody>
      </p:sp>
      <p:sp>
        <p:nvSpPr>
          <p:cNvPr id="6" name="marco Progreso"/>
          <p:cNvSpPr/>
          <p:nvPr/>
        </p:nvSpPr>
        <p:spPr>
          <a:xfrm>
            <a:off x="3794760" y="1234440"/>
            <a:ext cx="1417320" cy="3081027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7" name="captura Progreso" descr="Vistas — Administrador — Progres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280160"/>
            <a:ext cx="1325880" cy="29895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749040" y="4361187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Progreso</a:t>
            </a:r>
            <a:endParaRPr lang="en-US" sz="1100" dirty="0"/>
          </a:p>
        </p:txBody>
      </p:sp>
      <p:sp>
        <p:nvSpPr>
          <p:cNvPr id="9" name="marco Supervisión"/>
          <p:cNvSpPr/>
          <p:nvPr/>
        </p:nvSpPr>
        <p:spPr>
          <a:xfrm>
            <a:off x="5349240" y="1234440"/>
            <a:ext cx="1417320" cy="2997769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10" name="captura Supervisión" descr="Vistas — Administrador — Supervisió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1325880" cy="290632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4277929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Supervisión</a:t>
            </a:r>
            <a:endParaRPr lang="en-US" sz="1100" dirty="0"/>
          </a:p>
        </p:txBody>
      </p:sp>
      <p:sp>
        <p:nvSpPr>
          <p:cNvPr id="12" name="marco Programación"/>
          <p:cNvSpPr/>
          <p:nvPr/>
        </p:nvSpPr>
        <p:spPr>
          <a:xfrm>
            <a:off x="6903720" y="1234440"/>
            <a:ext cx="1417320" cy="3013352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13" name="captura Programación" descr="Vistas — Administrador — Programació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80160"/>
            <a:ext cx="1325880" cy="29219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58000" y="4293512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Programación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Vistas — Mantenimiento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lecturas en campo</a:t>
            </a:r>
            <a:endParaRPr lang="en-US" sz="1400" dirty="0"/>
          </a:p>
        </p:txBody>
      </p:sp>
      <p:sp>
        <p:nvSpPr>
          <p:cNvPr id="4" name="panel descripcion"/>
          <p:cNvSpPr/>
          <p:nvPr/>
        </p:nvSpPr>
        <p:spPr>
          <a:xfrm>
            <a:off x="457200" y="1325880"/>
            <a:ext cx="2834640" cy="3108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Casas disponibles y resumen de reportes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Formulario de nueva lectura con medición y observaciones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Reportes registrados con emisión de PDF</a:t>
            </a:r>
            <a:endParaRPr lang="en-US" sz="1400" dirty="0"/>
          </a:p>
        </p:txBody>
      </p:sp>
      <p:sp>
        <p:nvSpPr>
          <p:cNvPr id="6" name="marco Inicio"/>
          <p:cNvSpPr/>
          <p:nvPr/>
        </p:nvSpPr>
        <p:spPr>
          <a:xfrm>
            <a:off x="3794760" y="1234440"/>
            <a:ext cx="1417320" cy="2984587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7" name="captura Inicio" descr="Vistas — Mantenimiento — Inic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280160"/>
            <a:ext cx="1325880" cy="289314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749040" y="4264747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1100" dirty="0"/>
          </a:p>
        </p:txBody>
      </p:sp>
      <p:sp>
        <p:nvSpPr>
          <p:cNvPr id="9" name="marco Nueva lectura"/>
          <p:cNvSpPr/>
          <p:nvPr/>
        </p:nvSpPr>
        <p:spPr>
          <a:xfrm>
            <a:off x="5349240" y="1234440"/>
            <a:ext cx="1417320" cy="3172917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10" name="captura Nueva lectura" descr="Vistas — Mantenimiento — Nueva lectu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1325880" cy="308147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4453077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lectura</a:t>
            </a:r>
            <a:endParaRPr lang="en-US" sz="1100" dirty="0"/>
          </a:p>
        </p:txBody>
      </p:sp>
      <p:sp>
        <p:nvSpPr>
          <p:cNvPr id="12" name="marco Reportes"/>
          <p:cNvSpPr/>
          <p:nvPr/>
        </p:nvSpPr>
        <p:spPr>
          <a:xfrm>
            <a:off x="6903720" y="1234440"/>
            <a:ext cx="1417320" cy="3019720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13" name="captura Reportes" descr="Vistas — Mantenimiento — Repor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80160"/>
            <a:ext cx="1325880" cy="29282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58000" y="4299880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Vistas — Residente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transparente</a:t>
            </a:r>
            <a:endParaRPr lang="en-US" sz="1400" dirty="0"/>
          </a:p>
        </p:txBody>
      </p:sp>
      <p:sp>
        <p:nvSpPr>
          <p:cNvPr id="4" name="panel descripcion"/>
          <p:cNvSpPr/>
          <p:nvPr/>
        </p:nvSpPr>
        <p:spPr>
          <a:xfrm>
            <a:off x="457200" y="1325880"/>
            <a:ext cx="2834640" cy="310896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5448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Consumo actual de su vivienda en un medidor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Avisos de lectura y reporte generado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F4A3F"/>
                </a:solidFill>
              </a:rPr>
              <a:t>Reportes recibidos filtrables por mes</a:t>
            </a:r>
            <a:endParaRPr lang="en-US" sz="1400" dirty="0"/>
          </a:p>
        </p:txBody>
      </p:sp>
      <p:sp>
        <p:nvSpPr>
          <p:cNvPr id="6" name="marco Consumo"/>
          <p:cNvSpPr/>
          <p:nvPr/>
        </p:nvSpPr>
        <p:spPr>
          <a:xfrm>
            <a:off x="3794760" y="1234440"/>
            <a:ext cx="1417320" cy="3101151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7" name="captura Consumo" descr="Vistas — Residente — Consum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280160"/>
            <a:ext cx="1325880" cy="300971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749040" y="4381311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</a:t>
            </a:r>
            <a:endParaRPr lang="en-US" sz="1100" dirty="0"/>
          </a:p>
        </p:txBody>
      </p:sp>
      <p:sp>
        <p:nvSpPr>
          <p:cNvPr id="9" name="marco Avisos"/>
          <p:cNvSpPr/>
          <p:nvPr/>
        </p:nvSpPr>
        <p:spPr>
          <a:xfrm>
            <a:off x="5349240" y="1234440"/>
            <a:ext cx="1417320" cy="3013287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10" name="captura Avisos" descr="Vistas — Residente — Avis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280160"/>
            <a:ext cx="1325880" cy="29218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03520" y="4293447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</a:t>
            </a:r>
            <a:endParaRPr lang="en-US" sz="1100" dirty="0"/>
          </a:p>
        </p:txBody>
      </p:sp>
      <p:sp>
        <p:nvSpPr>
          <p:cNvPr id="12" name="marco Reportes"/>
          <p:cNvSpPr/>
          <p:nvPr/>
        </p:nvSpPr>
        <p:spPr>
          <a:xfrm>
            <a:off x="6903720" y="1234440"/>
            <a:ext cx="1417320" cy="3161899"/>
          </a:xfrm>
          <a:prstGeom prst="roundRect">
            <a:avLst>
              <a:gd name="adj" fmla="val 6452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pic>
        <p:nvPicPr>
          <p:cNvPr id="13" name="captura Reportes" descr="Vistas — Residente — Repor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0" y="1280160"/>
            <a:ext cx="1325880" cy="307045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858000" y="4442059"/>
            <a:ext cx="1508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 del sistema</a:t>
            </a:r>
            <a:endParaRPr lang="en-US" sz="3000" dirty="0"/>
          </a:p>
        </p:txBody>
      </p:sp>
      <p:sp>
        <p:nvSpPr>
          <p:cNvPr id="3" name="columna 1"/>
          <p:cNvSpPr/>
          <p:nvPr/>
        </p:nvSpPr>
        <p:spPr>
          <a:xfrm>
            <a:off x="457200" y="1188720"/>
            <a:ext cx="2377440" cy="31089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4" name="arq 1 circulo"/>
          <p:cNvSpPr/>
          <p:nvPr/>
        </p:nvSpPr>
        <p:spPr>
          <a:xfrm>
            <a:off x="1280160" y="1371600"/>
            <a:ext cx="731520" cy="73152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5" name="arq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6974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Flutter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Cámara para evidencia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Vistas por rol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Reportes PDF</a:t>
            </a:r>
            <a:endParaRPr lang="en-US" sz="1200" dirty="0"/>
          </a:p>
        </p:txBody>
      </p:sp>
      <p:sp>
        <p:nvSpPr>
          <p:cNvPr id="8" name="flecha 1"/>
          <p:cNvSpPr/>
          <p:nvPr/>
        </p:nvSpPr>
        <p:spPr>
          <a:xfrm>
            <a:off x="2880360" y="26060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columna 2"/>
          <p:cNvSpPr/>
          <p:nvPr/>
        </p:nvSpPr>
        <p:spPr>
          <a:xfrm>
            <a:off x="3383280" y="1188720"/>
            <a:ext cx="2377440" cy="31089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0" name="arq 2 circulo"/>
          <p:cNvSpPr/>
          <p:nvPr/>
        </p:nvSpPr>
        <p:spPr>
          <a:xfrm>
            <a:off x="4206240" y="1371600"/>
            <a:ext cx="731520" cy="73152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11" name="arq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15544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47472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3657600" y="26974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Express (API REST)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Lógica de negocio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Cálculo de consumo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Alojado en Amazon EC2</a:t>
            </a:r>
            <a:endParaRPr lang="en-US" sz="1200" dirty="0"/>
          </a:p>
        </p:txBody>
      </p:sp>
      <p:sp>
        <p:nvSpPr>
          <p:cNvPr id="14" name="flecha 2"/>
          <p:cNvSpPr/>
          <p:nvPr/>
        </p:nvSpPr>
        <p:spPr>
          <a:xfrm>
            <a:off x="5806440" y="2606040"/>
            <a:ext cx="457200" cy="36576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columna 3"/>
          <p:cNvSpPr/>
          <p:nvPr/>
        </p:nvSpPr>
        <p:spPr>
          <a:xfrm>
            <a:off x="6309360" y="1188720"/>
            <a:ext cx="2377440" cy="310896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6" name="arq 3 circulo"/>
          <p:cNvSpPr/>
          <p:nvPr/>
        </p:nvSpPr>
        <p:spPr>
          <a:xfrm>
            <a:off x="7132320" y="1371600"/>
            <a:ext cx="731520" cy="73152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17" name="arq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5544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0080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y servicios AWS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6583680" y="269748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PostgreSQL en RDS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Fotos en Amazon S3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Cognito · SNS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3F4A3F"/>
                </a:solidFill>
              </a:rPr>
              <a:t>CloudWatch</a:t>
            </a:r>
            <a:endParaRPr lang="en-US" sz="12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4348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Opcional a futuro: Amazon Textract (OCR) y AWS IoT Core (contadores inteligentes)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Flujo de una lectura</a:t>
            </a:r>
            <a:endParaRPr lang="en-US" sz="3000" dirty="0"/>
          </a:p>
        </p:txBody>
      </p:sp>
      <p:sp>
        <p:nvSpPr>
          <p:cNvPr id="3" name="paso 1"/>
          <p:cNvSpPr/>
          <p:nvPr/>
        </p:nvSpPr>
        <p:spPr>
          <a:xfrm>
            <a:off x="457200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4" name="flujo 1 circulo"/>
          <p:cNvSpPr/>
          <p:nvPr/>
        </p:nvSpPr>
        <p:spPr>
          <a:xfrm>
            <a:off x="914400" y="1554480"/>
            <a:ext cx="594360" cy="59436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5" name="flujo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170307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3317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Programar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26974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administrador define vivienda, fecha e indicaciones</a:t>
            </a:r>
            <a:endParaRPr lang="en-US" sz="1200" dirty="0"/>
          </a:p>
        </p:txBody>
      </p:sp>
      <p:sp>
        <p:nvSpPr>
          <p:cNvPr id="8" name="flecha flujo 1"/>
          <p:cNvSpPr/>
          <p:nvPr/>
        </p:nvSpPr>
        <p:spPr>
          <a:xfrm>
            <a:off x="1975104" y="2560320"/>
            <a:ext cx="137160" cy="2286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paso 2"/>
          <p:cNvSpPr/>
          <p:nvPr/>
        </p:nvSpPr>
        <p:spPr>
          <a:xfrm>
            <a:off x="2121408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flujo 2 circulo"/>
          <p:cNvSpPr/>
          <p:nvPr/>
        </p:nvSpPr>
        <p:spPr>
          <a:xfrm>
            <a:off x="2578608" y="1554480"/>
            <a:ext cx="594360" cy="59436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11" name="flujo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7198" y="1703070"/>
            <a:ext cx="297180" cy="2971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212848" y="23317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Registrar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258568" y="26974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 ingresa la medición y toma la foto</a:t>
            </a:r>
            <a:endParaRPr lang="en-US" sz="1200" dirty="0"/>
          </a:p>
        </p:txBody>
      </p:sp>
      <p:sp>
        <p:nvSpPr>
          <p:cNvPr id="14" name="flecha flujo 2"/>
          <p:cNvSpPr/>
          <p:nvPr/>
        </p:nvSpPr>
        <p:spPr>
          <a:xfrm>
            <a:off x="3639312" y="2560320"/>
            <a:ext cx="137160" cy="2286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paso 3"/>
          <p:cNvSpPr/>
          <p:nvPr/>
        </p:nvSpPr>
        <p:spPr>
          <a:xfrm>
            <a:off x="3785616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6" name="flujo 3 circulo"/>
          <p:cNvSpPr/>
          <p:nvPr/>
        </p:nvSpPr>
        <p:spPr>
          <a:xfrm>
            <a:off x="4242816" y="1554480"/>
            <a:ext cx="594360" cy="59436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17" name="flujo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1406" y="1703070"/>
            <a:ext cx="297180" cy="29718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877056" y="23317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Guardar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3922776" y="26974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foto va a S3 y los datos a PostgreSQL</a:t>
            </a:r>
            <a:endParaRPr lang="en-US" sz="1200" dirty="0"/>
          </a:p>
        </p:txBody>
      </p:sp>
      <p:sp>
        <p:nvSpPr>
          <p:cNvPr id="20" name="flecha flujo 3"/>
          <p:cNvSpPr/>
          <p:nvPr/>
        </p:nvSpPr>
        <p:spPr>
          <a:xfrm>
            <a:off x="5303520" y="2560320"/>
            <a:ext cx="137160" cy="2286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paso 4"/>
          <p:cNvSpPr/>
          <p:nvPr/>
        </p:nvSpPr>
        <p:spPr>
          <a:xfrm>
            <a:off x="5449824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2" name="flujo 4 circulo"/>
          <p:cNvSpPr/>
          <p:nvPr/>
        </p:nvSpPr>
        <p:spPr>
          <a:xfrm>
            <a:off x="5907024" y="1554480"/>
            <a:ext cx="594360" cy="59436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23" name="flujo 4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5614" y="1703070"/>
            <a:ext cx="297180" cy="2971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541264" y="23317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Calcular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5586984" y="26974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backend obtiene el consumo del período</a:t>
            </a:r>
            <a:endParaRPr lang="en-US" sz="1200" dirty="0"/>
          </a:p>
        </p:txBody>
      </p:sp>
      <p:sp>
        <p:nvSpPr>
          <p:cNvPr id="26" name="flecha flujo 4"/>
          <p:cNvSpPr/>
          <p:nvPr/>
        </p:nvSpPr>
        <p:spPr>
          <a:xfrm>
            <a:off x="6967728" y="2560320"/>
            <a:ext cx="137160" cy="2286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7" name="paso 5"/>
          <p:cNvSpPr/>
          <p:nvPr/>
        </p:nvSpPr>
        <p:spPr>
          <a:xfrm>
            <a:off x="7114032" y="1371600"/>
            <a:ext cx="1508760" cy="2651760"/>
          </a:xfrm>
          <a:prstGeom prst="roundRect">
            <a:avLst>
              <a:gd name="adj" fmla="val 4848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8" name="flujo 5 circulo"/>
          <p:cNvSpPr/>
          <p:nvPr/>
        </p:nvSpPr>
        <p:spPr>
          <a:xfrm>
            <a:off x="7571232" y="1554480"/>
            <a:ext cx="594360" cy="594360"/>
          </a:xfrm>
          <a:prstGeom prst="ellipse">
            <a:avLst/>
          </a:prstGeom>
          <a:solidFill>
            <a:srgbClr val="78B040"/>
          </a:solidFill>
          <a:ln w="12700">
            <a:solidFill>
              <a:srgbClr val="78B040"/>
            </a:solidFill>
            <a:prstDash val="solid"/>
          </a:ln>
        </p:spPr>
      </p:sp>
      <p:pic>
        <p:nvPicPr>
          <p:cNvPr id="29" name="flujo 5 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9822" y="1703070"/>
            <a:ext cx="297180" cy="29718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205472" y="2331720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Notificar</a:t>
            </a:r>
            <a:endParaRPr lang="en-US" sz="1400" dirty="0"/>
          </a:p>
        </p:txBody>
      </p:sp>
      <p:sp>
        <p:nvSpPr>
          <p:cNvPr id="31" name="Text 24"/>
          <p:cNvSpPr txBox="1"/>
          <p:nvPr/>
        </p:nvSpPr>
        <p:spPr>
          <a:xfrm>
            <a:off x="7251192" y="2697480"/>
            <a:ext cx="1234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residente recibe su lectura y consumo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foto queda como prueba verificable ante cualquier reclamo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0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Servicios en AWS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AWS por su escalabilidad y por AWS IoT Core para una futura fase con sensores</a:t>
            </a:r>
            <a:endParaRPr lang="en-US" sz="1300" dirty="0"/>
          </a:p>
        </p:txBody>
      </p:sp>
      <p:sp>
        <p:nvSpPr>
          <p:cNvPr id="4" name="tarjeta aws 1"/>
          <p:cNvSpPr/>
          <p:nvPr/>
        </p:nvSpPr>
        <p:spPr>
          <a:xfrm>
            <a:off x="457200" y="137160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aws 1 circulo"/>
          <p:cNvSpPr/>
          <p:nvPr/>
        </p:nvSpPr>
        <p:spPr>
          <a:xfrm>
            <a:off x="640080" y="1536192"/>
            <a:ext cx="457200" cy="45720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6" name="aws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4380" y="1650492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34440" y="15361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EC2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Aloja el backend y la lógica de negocio.</a:t>
            </a:r>
            <a:endParaRPr lang="en-US" sz="1200" dirty="0"/>
          </a:p>
        </p:txBody>
      </p:sp>
      <p:sp>
        <p:nvSpPr>
          <p:cNvPr id="9" name="tarjeta aws 2"/>
          <p:cNvSpPr/>
          <p:nvPr/>
        </p:nvSpPr>
        <p:spPr>
          <a:xfrm>
            <a:off x="3246120" y="137160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0" name="aws 2 circulo"/>
          <p:cNvSpPr/>
          <p:nvPr/>
        </p:nvSpPr>
        <p:spPr>
          <a:xfrm>
            <a:off x="3429000" y="1536192"/>
            <a:ext cx="457200" cy="45720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11" name="aws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1650492"/>
            <a:ext cx="228600" cy="2286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023360" y="15361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RDS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administrado para toda la información.</a:t>
            </a:r>
            <a:endParaRPr lang="en-US" sz="1200" dirty="0"/>
          </a:p>
        </p:txBody>
      </p:sp>
      <p:sp>
        <p:nvSpPr>
          <p:cNvPr id="14" name="tarjeta aws 3"/>
          <p:cNvSpPr/>
          <p:nvPr/>
        </p:nvSpPr>
        <p:spPr>
          <a:xfrm>
            <a:off x="6035040" y="137160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5" name="aws 3 circulo"/>
          <p:cNvSpPr/>
          <p:nvPr/>
        </p:nvSpPr>
        <p:spPr>
          <a:xfrm>
            <a:off x="6217920" y="1536192"/>
            <a:ext cx="457200" cy="45720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16" name="aws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2220" y="1650492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812280" y="153619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S3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217920" y="21031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 las fotos de los contadores.</a:t>
            </a:r>
            <a:endParaRPr lang="en-US" sz="1200" dirty="0"/>
          </a:p>
        </p:txBody>
      </p:sp>
      <p:sp>
        <p:nvSpPr>
          <p:cNvPr id="19" name="tarjeta aws 4"/>
          <p:cNvSpPr/>
          <p:nvPr/>
        </p:nvSpPr>
        <p:spPr>
          <a:xfrm>
            <a:off x="457200" y="292608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0" name="aws 4 circulo"/>
          <p:cNvSpPr/>
          <p:nvPr/>
        </p:nvSpPr>
        <p:spPr>
          <a:xfrm>
            <a:off x="640080" y="3090672"/>
            <a:ext cx="457200" cy="45720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21" name="aws 4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" y="3204972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34440" y="309067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640080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 sesión y acceso según el rol.</a:t>
            </a:r>
            <a:endParaRPr lang="en-US" sz="1200" dirty="0"/>
          </a:p>
        </p:txBody>
      </p:sp>
      <p:sp>
        <p:nvSpPr>
          <p:cNvPr id="24" name="tarjeta aws 5"/>
          <p:cNvSpPr/>
          <p:nvPr/>
        </p:nvSpPr>
        <p:spPr>
          <a:xfrm>
            <a:off x="3246120" y="292608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5" name="aws 5 circulo"/>
          <p:cNvSpPr/>
          <p:nvPr/>
        </p:nvSpPr>
        <p:spPr>
          <a:xfrm>
            <a:off x="3429000" y="3090672"/>
            <a:ext cx="457200" cy="45720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26" name="aws 5 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300" y="3204972"/>
            <a:ext cx="228600" cy="228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023360" y="309067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SNS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3429000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de lectura, consumo alto y posible fuga.</a:t>
            </a:r>
            <a:endParaRPr lang="en-US" sz="1200" dirty="0"/>
          </a:p>
        </p:txBody>
      </p:sp>
      <p:sp>
        <p:nvSpPr>
          <p:cNvPr id="29" name="tarjeta aws 6"/>
          <p:cNvSpPr/>
          <p:nvPr/>
        </p:nvSpPr>
        <p:spPr>
          <a:xfrm>
            <a:off x="6035040" y="2926080"/>
            <a:ext cx="2651760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30" name="aws 6 circulo"/>
          <p:cNvSpPr/>
          <p:nvPr/>
        </p:nvSpPr>
        <p:spPr>
          <a:xfrm>
            <a:off x="6217920" y="3090672"/>
            <a:ext cx="457200" cy="45720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31" name="aws 6 i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20" y="3204972"/>
            <a:ext cx="228600" cy="22860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12280" y="309067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CloudWatch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6217920" y="3657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registro de errores y auditoría.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de datos — PostgreSQL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Ocho tablas relacionales</a:t>
            </a:r>
            <a:endParaRPr lang="en-US" sz="1400" dirty="0"/>
          </a:p>
        </p:txBody>
      </p:sp>
      <p:sp>
        <p:nvSpPr>
          <p:cNvPr id="4" name="tabla rol"/>
          <p:cNvSpPr/>
          <p:nvPr/>
        </p:nvSpPr>
        <p:spPr>
          <a:xfrm>
            <a:off x="457200" y="12801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etiqueta rol"/>
          <p:cNvSpPr/>
          <p:nvPr/>
        </p:nvSpPr>
        <p:spPr>
          <a:xfrm>
            <a:off x="594360" y="143560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435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· nombre · estado</a:t>
            </a:r>
            <a:endParaRPr lang="en-US" sz="1100" dirty="0"/>
          </a:p>
        </p:txBody>
      </p:sp>
      <p:sp>
        <p:nvSpPr>
          <p:cNvPr id="8" name="tabla usuarios"/>
          <p:cNvSpPr/>
          <p:nvPr/>
        </p:nvSpPr>
        <p:spPr>
          <a:xfrm>
            <a:off x="4663440" y="128016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9" name="etiqueta usuarios"/>
          <p:cNvSpPr/>
          <p:nvPr/>
        </p:nvSpPr>
        <p:spPr>
          <a:xfrm>
            <a:off x="4800600" y="143560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43560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35331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· correo · contraseña · rol_id</a:t>
            </a:r>
            <a:endParaRPr lang="en-US" sz="1100" dirty="0"/>
          </a:p>
        </p:txBody>
      </p:sp>
      <p:sp>
        <p:nvSpPr>
          <p:cNvPr id="12" name="tabla casa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3" name="etiqueta casa"/>
          <p:cNvSpPr/>
          <p:nvPr/>
        </p:nvSpPr>
        <p:spPr>
          <a:xfrm>
            <a:off x="594360" y="221284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221284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213055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número · estado</a:t>
            </a:r>
            <a:endParaRPr lang="en-US" sz="1100" dirty="0"/>
          </a:p>
        </p:txBody>
      </p:sp>
      <p:sp>
        <p:nvSpPr>
          <p:cNvPr id="16" name="tabla tiene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7" name="etiqueta tiene"/>
          <p:cNvSpPr/>
          <p:nvPr/>
        </p:nvSpPr>
        <p:spPr>
          <a:xfrm>
            <a:off x="4800600" y="221284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00600" y="221284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213055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usuario_id · casa_id · habita</a:t>
            </a:r>
            <a:endParaRPr lang="en-US" sz="1100" dirty="0"/>
          </a:p>
        </p:txBody>
      </p:sp>
      <p:sp>
        <p:nvSpPr>
          <p:cNvPr id="20" name="tabla reporte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1" name="etiqueta reporte"/>
          <p:cNvSpPr/>
          <p:nvPr/>
        </p:nvSpPr>
        <p:spPr>
          <a:xfrm>
            <a:off x="594360" y="299008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29900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965960" y="290779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 · descripción · pdf · fecha · usuario_id</a:t>
            </a:r>
            <a:endParaRPr lang="en-US" sz="1100" dirty="0"/>
          </a:p>
        </p:txBody>
      </p:sp>
      <p:sp>
        <p:nvSpPr>
          <p:cNvPr id="24" name="tabla reciben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5" name="etiqueta reciben"/>
          <p:cNvSpPr/>
          <p:nvPr/>
        </p:nvSpPr>
        <p:spPr>
          <a:xfrm>
            <a:off x="4800600" y="299008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800600" y="29900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172200" y="290779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casa_id · reporte_id · recibido</a:t>
            </a:r>
            <a:endParaRPr lang="en-US" sz="1100" dirty="0"/>
          </a:p>
        </p:txBody>
      </p:sp>
      <p:sp>
        <p:nvSpPr>
          <p:cNvPr id="28" name="tabla datos"/>
          <p:cNvSpPr/>
          <p:nvPr/>
        </p:nvSpPr>
        <p:spPr>
          <a:xfrm>
            <a:off x="457200" y="361188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29" name="etiqueta datos"/>
          <p:cNvSpPr/>
          <p:nvPr/>
        </p:nvSpPr>
        <p:spPr>
          <a:xfrm>
            <a:off x="594360" y="376732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7673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965960" y="368503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medida_tomada · foto · contenido · reporte_id</a:t>
            </a:r>
            <a:endParaRPr lang="en-US" sz="1100" dirty="0"/>
          </a:p>
        </p:txBody>
      </p:sp>
      <p:sp>
        <p:nvSpPr>
          <p:cNvPr id="32" name="tabla notificaciones"/>
          <p:cNvSpPr/>
          <p:nvPr/>
        </p:nvSpPr>
        <p:spPr>
          <a:xfrm>
            <a:off x="4663440" y="3611880"/>
            <a:ext cx="4023360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33" name="etiqueta notificaciones"/>
          <p:cNvSpPr/>
          <p:nvPr/>
        </p:nvSpPr>
        <p:spPr>
          <a:xfrm>
            <a:off x="4800600" y="3767328"/>
            <a:ext cx="123444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76732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3685032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descripción · fecha · reporte_id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Riesgos principales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de 1 a 5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82296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A1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Mitigación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6A1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Retraso por equipo limitado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calendarización sin desviaciones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Cambios de alcance durante el desarrollo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Asegurar el producto final antes de iniciar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 no funcione el software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cada funcionalidad con cuidado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 captura de datos desde la foto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para corregir el dato y OCR bien definido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Resistencia al cambio del personal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simulada y encuesta al personal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Poco tiempo por otros cursos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A3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Reservar tiempo fijo para el proyecto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Calendarización</a:t>
            </a:r>
            <a:endParaRPr lang="en-US" sz="3000" dirty="0"/>
          </a:p>
        </p:txBody>
      </p:sp>
      <p:sp>
        <p:nvSpPr>
          <p:cNvPr id="3" name="semana 1"/>
          <p:cNvSpPr/>
          <p:nvPr/>
        </p:nvSpPr>
        <p:spPr>
          <a:xfrm>
            <a:off x="457200" y="1097280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</a:t>
            </a:r>
            <a:endParaRPr lang="en-US" sz="1300" dirty="0"/>
          </a:p>
        </p:txBody>
      </p:sp>
      <p:sp>
        <p:nvSpPr>
          <p:cNvPr id="5" name="actividad 1"/>
          <p:cNvSpPr/>
          <p:nvPr/>
        </p:nvSpPr>
        <p:spPr>
          <a:xfrm>
            <a:off x="1965960" y="1097280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de datos y arquitectura base</a:t>
            </a:r>
            <a:endParaRPr lang="en-US" sz="1300" dirty="0"/>
          </a:p>
        </p:txBody>
      </p:sp>
      <p:sp>
        <p:nvSpPr>
          <p:cNvPr id="7" name="semana 2"/>
          <p:cNvSpPr/>
          <p:nvPr/>
        </p:nvSpPr>
        <p:spPr>
          <a:xfrm>
            <a:off x="457200" y="1572768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3–5</a:t>
            </a:r>
            <a:endParaRPr lang="en-US" sz="1300" dirty="0"/>
          </a:p>
        </p:txBody>
      </p:sp>
      <p:sp>
        <p:nvSpPr>
          <p:cNvPr id="9" name="actividad 2"/>
          <p:cNvSpPr/>
          <p:nvPr/>
        </p:nvSpPr>
        <p:spPr>
          <a:xfrm>
            <a:off x="1965960" y="1572768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148840" y="157276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en paralelo de backend y frontend</a:t>
            </a:r>
            <a:endParaRPr lang="en-US" sz="1300" dirty="0"/>
          </a:p>
        </p:txBody>
      </p:sp>
      <p:sp>
        <p:nvSpPr>
          <p:cNvPr id="11" name="semana 3"/>
          <p:cNvSpPr/>
          <p:nvPr/>
        </p:nvSpPr>
        <p:spPr>
          <a:xfrm>
            <a:off x="457200" y="2048256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48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6</a:t>
            </a:r>
            <a:endParaRPr lang="en-US" sz="1300" dirty="0"/>
          </a:p>
        </p:txBody>
      </p:sp>
      <p:sp>
        <p:nvSpPr>
          <p:cNvPr id="13" name="actividad 3"/>
          <p:cNvSpPr/>
          <p:nvPr/>
        </p:nvSpPr>
        <p:spPr>
          <a:xfrm>
            <a:off x="1965960" y="2048256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48840" y="204825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pruebas iniciales con otros contadores</a:t>
            </a:r>
            <a:endParaRPr lang="en-US" sz="1300" dirty="0"/>
          </a:p>
        </p:txBody>
      </p:sp>
      <p:sp>
        <p:nvSpPr>
          <p:cNvPr id="15" name="semana 4"/>
          <p:cNvSpPr/>
          <p:nvPr/>
        </p:nvSpPr>
        <p:spPr>
          <a:xfrm>
            <a:off x="457200" y="2523744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252374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7</a:t>
            </a:r>
            <a:endParaRPr lang="en-US" sz="1300" dirty="0"/>
          </a:p>
        </p:txBody>
      </p:sp>
      <p:sp>
        <p:nvSpPr>
          <p:cNvPr id="17" name="actividad 4"/>
          <p:cNvSpPr/>
          <p:nvPr/>
        </p:nvSpPr>
        <p:spPr>
          <a:xfrm>
            <a:off x="1965960" y="2523744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48840" y="252374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diseño y funcionalidades livianas</a:t>
            </a:r>
            <a:endParaRPr lang="en-US" sz="1300" dirty="0"/>
          </a:p>
        </p:txBody>
      </p:sp>
      <p:sp>
        <p:nvSpPr>
          <p:cNvPr id="19" name="semana 5"/>
          <p:cNvSpPr/>
          <p:nvPr/>
        </p:nvSpPr>
        <p:spPr>
          <a:xfrm>
            <a:off x="457200" y="2999232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2999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9–10</a:t>
            </a:r>
            <a:endParaRPr lang="en-US" sz="1300" dirty="0"/>
          </a:p>
        </p:txBody>
      </p:sp>
      <p:sp>
        <p:nvSpPr>
          <p:cNvPr id="21" name="actividad 5"/>
          <p:cNvSpPr/>
          <p:nvPr/>
        </p:nvSpPr>
        <p:spPr>
          <a:xfrm>
            <a:off x="1965960" y="2999232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148840" y="29992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la fase 1 e inicio de documentación</a:t>
            </a:r>
            <a:endParaRPr lang="en-US" sz="1300" dirty="0"/>
          </a:p>
        </p:txBody>
      </p:sp>
      <p:sp>
        <p:nvSpPr>
          <p:cNvPr id="23" name="semana 6"/>
          <p:cNvSpPr/>
          <p:nvPr/>
        </p:nvSpPr>
        <p:spPr>
          <a:xfrm>
            <a:off x="457200" y="3474720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474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11–12</a:t>
            </a:r>
            <a:endParaRPr lang="en-US" sz="1300" dirty="0"/>
          </a:p>
        </p:txBody>
      </p:sp>
      <p:sp>
        <p:nvSpPr>
          <p:cNvPr id="25" name="actividad 6"/>
          <p:cNvSpPr/>
          <p:nvPr/>
        </p:nvSpPr>
        <p:spPr>
          <a:xfrm>
            <a:off x="1965960" y="3474720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48840" y="3474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de errores y documentación técnica</a:t>
            </a:r>
            <a:endParaRPr lang="en-US" sz="1300" dirty="0"/>
          </a:p>
        </p:txBody>
      </p:sp>
      <p:sp>
        <p:nvSpPr>
          <p:cNvPr id="27" name="semana 7"/>
          <p:cNvSpPr/>
          <p:nvPr/>
        </p:nvSpPr>
        <p:spPr>
          <a:xfrm>
            <a:off x="457200" y="3950208"/>
            <a:ext cx="1371600" cy="365760"/>
          </a:xfrm>
          <a:prstGeom prst="roundRect">
            <a:avLst>
              <a:gd name="adj" fmla="val 15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" y="39502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Sem. 13</a:t>
            </a:r>
            <a:endParaRPr lang="en-US" sz="1300" dirty="0"/>
          </a:p>
        </p:txBody>
      </p:sp>
      <p:sp>
        <p:nvSpPr>
          <p:cNvPr id="29" name="actividad 7"/>
          <p:cNvSpPr/>
          <p:nvPr/>
        </p:nvSpPr>
        <p:spPr>
          <a:xfrm>
            <a:off x="1965960" y="3950208"/>
            <a:ext cx="6720840" cy="365760"/>
          </a:xfrm>
          <a:prstGeom prst="roundRect">
            <a:avLst>
              <a:gd name="adj" fmla="val 20000"/>
            </a:avLst>
          </a:prstGeom>
          <a:solidFill>
            <a:schemeClr val="tx2">
              <a:alpha val="45000"/>
            </a:schemeClr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148840" y="39502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Preparación de la presentación final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480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semanas de parciales (2 y 8) y la semana del FIT (3) están consideradas en el calendario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0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Hacia la fase 2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queda lista para automatizar la lectura</a:t>
            </a:r>
            <a:endParaRPr lang="en-US" sz="1400" dirty="0"/>
          </a:p>
        </p:txBody>
      </p:sp>
      <p:sp>
        <p:nvSpPr>
          <p:cNvPr id="4" name="tarjeta futuro 1"/>
          <p:cNvSpPr/>
          <p:nvPr/>
        </p:nvSpPr>
        <p:spPr>
          <a:xfrm>
            <a:off x="457200" y="132588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5" name="futuro 1 circulo"/>
          <p:cNvSpPr/>
          <p:nvPr/>
        </p:nvSpPr>
        <p:spPr>
          <a:xfrm>
            <a:off x="731520" y="1554480"/>
            <a:ext cx="640080" cy="640080"/>
          </a:xfrm>
          <a:prstGeom prst="ellipse">
            <a:avLst/>
          </a:prstGeom>
          <a:solidFill>
            <a:srgbClr val="2F6A1A"/>
          </a:solidFill>
          <a:ln w="12700">
            <a:solidFill>
              <a:srgbClr val="2F6A1A"/>
            </a:solidFill>
            <a:prstDash val="solid"/>
          </a:ln>
        </p:spPr>
      </p:sp>
      <p:pic>
        <p:nvPicPr>
          <p:cNvPr id="6" name="futuro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171450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554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Textract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automática por OCR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5603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F4A3F"/>
                </a:solidFill>
              </a:rPr>
              <a:t>Analiza la foto guardada en S3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F4A3F"/>
                </a:solidFill>
              </a:rPr>
              <a:t>Extrae el valor del contador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F4A3F"/>
                </a:solidFill>
              </a:rPr>
              <a:t>Valida lecturas y reduce errores humanos</a:t>
            </a:r>
            <a:endParaRPr lang="en-US" sz="1300" dirty="0"/>
          </a:p>
        </p:txBody>
      </p:sp>
      <p:sp>
        <p:nvSpPr>
          <p:cNvPr id="10" name="tarjeta futuro 2"/>
          <p:cNvSpPr/>
          <p:nvPr/>
        </p:nvSpPr>
        <p:spPr>
          <a:xfrm>
            <a:off x="4663440" y="1325880"/>
            <a:ext cx="4023360" cy="3017520"/>
          </a:xfrm>
          <a:prstGeom prst="roundRect">
            <a:avLst>
              <a:gd name="adj" fmla="val 2424"/>
            </a:avLst>
          </a:prstGeom>
          <a:solidFill>
            <a:schemeClr val="bg1"/>
          </a:solidFill>
          <a:ln w="9525">
            <a:solidFill>
              <a:srgbClr val="DCE6D8"/>
            </a:solidFill>
            <a:prstDash val="solid"/>
          </a:ln>
        </p:spPr>
      </p:sp>
      <p:sp>
        <p:nvSpPr>
          <p:cNvPr id="11" name="futuro 2 circulo"/>
          <p:cNvSpPr/>
          <p:nvPr/>
        </p:nvSpPr>
        <p:spPr>
          <a:xfrm>
            <a:off x="4937760" y="1554480"/>
            <a:ext cx="640080" cy="640080"/>
          </a:xfrm>
          <a:prstGeom prst="ellipse">
            <a:avLst/>
          </a:prstGeom>
          <a:solidFill>
            <a:srgbClr val="1F5C7F"/>
          </a:solidFill>
          <a:ln w="12700">
            <a:solidFill>
              <a:srgbClr val="1F5C7F"/>
            </a:solidFill>
            <a:prstDash val="solid"/>
          </a:ln>
        </p:spPr>
      </p:sp>
      <p:pic>
        <p:nvPicPr>
          <p:cNvPr id="12" name="futuro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71450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60720" y="1554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+ AWS IoT Core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5760720" y="1901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en tiempo real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256032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F4A3F"/>
                </a:solidFill>
              </a:rPr>
              <a:t>Sensor y microcontrolador en el contador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F4A3F"/>
                </a:solidFill>
              </a:rPr>
              <a:t>Envío directo de lecturas a la nube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F4A3F"/>
                </a:solidFill>
              </a:rPr>
              <a:t>Detección temprana de fugas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divisor"/>
          <p:cNvSpPr/>
          <p:nvPr/>
        </p:nvSpPr>
        <p:spPr>
          <a:xfrm>
            <a:off x="5943600" y="914400"/>
            <a:ext cx="4114800" cy="4114800"/>
          </a:xfrm>
          <a:prstGeom prst="ellipse">
            <a:avLst/>
          </a:prstGeom>
          <a:solidFill>
            <a:schemeClr val="tx2">
              <a:alpha val="3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Diagramas del sistema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373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entidad-relación y modelos UML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diagramas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FB08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 — Nombre del diagrama</a:t>
            </a:r>
            <a:endParaRPr lang="en-US" sz="3000" dirty="0"/>
          </a:p>
        </p:txBody>
      </p:sp>
      <p:sp>
        <p:nvSpPr>
          <p:cNvPr id="3" name="espacio diagrama 1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 — Nombre del diagrama</a:t>
            </a:r>
            <a:endParaRPr lang="en-US" sz="3000" dirty="0"/>
          </a:p>
        </p:txBody>
      </p:sp>
      <p:sp>
        <p:nvSpPr>
          <p:cNvPr id="3" name="espacio diagrama 2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3 — Nombre del diagrama</a:t>
            </a:r>
            <a:endParaRPr lang="en-US" sz="3000" dirty="0"/>
          </a:p>
        </p:txBody>
      </p:sp>
      <p:sp>
        <p:nvSpPr>
          <p:cNvPr id="3" name="espacio diagrama 3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4 — Nombre del diagrama</a:t>
            </a:r>
            <a:endParaRPr lang="en-US" sz="3000" dirty="0"/>
          </a:p>
        </p:txBody>
      </p:sp>
      <p:sp>
        <p:nvSpPr>
          <p:cNvPr id="3" name="espacio diagrama 4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5 — Nombre del diagrama</a:t>
            </a:r>
            <a:endParaRPr lang="en-US" sz="3000" dirty="0"/>
          </a:p>
        </p:txBody>
      </p:sp>
      <p:sp>
        <p:nvSpPr>
          <p:cNvPr id="3" name="espacio diagrama 5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6 — Nombre del diagrama</a:t>
            </a:r>
            <a:endParaRPr lang="en-US" sz="3000" dirty="0"/>
          </a:p>
        </p:txBody>
      </p:sp>
      <p:sp>
        <p:nvSpPr>
          <p:cNvPr id="3" name="espacio diagrama 6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7 — Nombre del diagrama</a:t>
            </a:r>
            <a:endParaRPr lang="en-US" sz="3000" dirty="0"/>
          </a:p>
        </p:txBody>
      </p:sp>
      <p:sp>
        <p:nvSpPr>
          <p:cNvPr id="3" name="espacio diagrama 7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8 — Nombre del diagrama</a:t>
            </a:r>
            <a:endParaRPr lang="en-US" sz="3000" dirty="0"/>
          </a:p>
        </p:txBody>
      </p:sp>
      <p:sp>
        <p:nvSpPr>
          <p:cNvPr id="3" name="espacio diagrama 8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9 — Nombre del diagrama</a:t>
            </a:r>
            <a:endParaRPr lang="en-US" sz="3000" dirty="0"/>
          </a:p>
        </p:txBody>
      </p:sp>
      <p:sp>
        <p:nvSpPr>
          <p:cNvPr id="3" name="espacio diagrama 9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10 — Nombre del diagrama</a:t>
            </a:r>
            <a:endParaRPr lang="en-US" sz="3000" dirty="0"/>
          </a:p>
        </p:txBody>
      </p:sp>
      <p:sp>
        <p:nvSpPr>
          <p:cNvPr id="3" name="espacio diagrama 10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11 — Nombre del diagrama</a:t>
            </a:r>
            <a:endParaRPr lang="en-US" sz="3000" dirty="0"/>
          </a:p>
        </p:txBody>
      </p:sp>
      <p:sp>
        <p:nvSpPr>
          <p:cNvPr id="3" name="espacio diagrama 11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12 — Nombre del diagrama</a:t>
            </a:r>
            <a:endParaRPr lang="en-US" sz="3000" dirty="0"/>
          </a:p>
        </p:txBody>
      </p:sp>
      <p:sp>
        <p:nvSpPr>
          <p:cNvPr id="3" name="espacio diagrama 12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13 — Nombre del diagrama</a:t>
            </a:r>
            <a:endParaRPr lang="en-US" sz="3000" dirty="0"/>
          </a:p>
        </p:txBody>
      </p:sp>
      <p:sp>
        <p:nvSpPr>
          <p:cNvPr id="3" name="espacio diagrama 13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14 — Nombre del diagrama</a:t>
            </a:r>
            <a:endParaRPr lang="en-US" sz="3000" dirty="0"/>
          </a:p>
        </p:txBody>
      </p:sp>
      <p:sp>
        <p:nvSpPr>
          <p:cNvPr id="3" name="espacio diagrama 14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15 — Nombre del diagrama</a:t>
            </a:r>
            <a:endParaRPr lang="en-US" sz="3000" dirty="0"/>
          </a:p>
        </p:txBody>
      </p:sp>
      <p:sp>
        <p:nvSpPr>
          <p:cNvPr id="3" name="espacio diagrama 15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16 — Nombre del diagrama</a:t>
            </a:r>
            <a:endParaRPr lang="en-US" sz="3000" dirty="0"/>
          </a:p>
        </p:txBody>
      </p:sp>
      <p:sp>
        <p:nvSpPr>
          <p:cNvPr id="3" name="espacio diagrama 16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17 — Nombre del diagrama</a:t>
            </a:r>
            <a:endParaRPr lang="en-US" sz="3000" dirty="0"/>
          </a:p>
        </p:txBody>
      </p:sp>
      <p:sp>
        <p:nvSpPr>
          <p:cNvPr id="3" name="espacio diagrama 17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17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18 — Nombre del diagrama</a:t>
            </a:r>
            <a:endParaRPr lang="en-US" sz="3000" dirty="0"/>
          </a:p>
        </p:txBody>
      </p:sp>
      <p:sp>
        <p:nvSpPr>
          <p:cNvPr id="3" name="espacio diagrama 18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19 — Nombre del diagrama</a:t>
            </a:r>
            <a:endParaRPr lang="en-US" sz="3000" dirty="0"/>
          </a:p>
        </p:txBody>
      </p:sp>
      <p:sp>
        <p:nvSpPr>
          <p:cNvPr id="3" name="espacio diagrama 19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19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20 — Nombre del diagrama</a:t>
            </a:r>
            <a:endParaRPr lang="en-US" sz="3000" dirty="0"/>
          </a:p>
        </p:txBody>
      </p:sp>
      <p:sp>
        <p:nvSpPr>
          <p:cNvPr id="3" name="espacio diagrama 20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21 — Nombre del diagrama</a:t>
            </a:r>
            <a:endParaRPr lang="en-US" sz="3000" dirty="0"/>
          </a:p>
        </p:txBody>
      </p:sp>
      <p:sp>
        <p:nvSpPr>
          <p:cNvPr id="3" name="espacio diagrama 21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21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22 — Nombre del diagrama</a:t>
            </a:r>
            <a:endParaRPr lang="en-US" sz="3000" dirty="0"/>
          </a:p>
        </p:txBody>
      </p:sp>
      <p:sp>
        <p:nvSpPr>
          <p:cNvPr id="3" name="espacio diagrama 22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22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23 — Nombre del diagrama</a:t>
            </a:r>
            <a:endParaRPr lang="en-US" sz="3000" dirty="0"/>
          </a:p>
        </p:txBody>
      </p:sp>
      <p:sp>
        <p:nvSpPr>
          <p:cNvPr id="3" name="espacio diagrama 23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23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24 — Nombre del diagrama</a:t>
            </a:r>
            <a:endParaRPr lang="en-US" sz="3000" dirty="0"/>
          </a:p>
        </p:txBody>
      </p:sp>
      <p:sp>
        <p:nvSpPr>
          <p:cNvPr id="3" name="espacio diagrama 24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Diagrama 25 — Nombre del diagrama</a:t>
            </a:r>
            <a:endParaRPr lang="en-US" sz="3000" dirty="0"/>
          </a:p>
        </p:txBody>
      </p:sp>
      <p:sp>
        <p:nvSpPr>
          <p:cNvPr id="3" name="espacio diagrama 25"/>
          <p:cNvSpPr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solidFill>
            <a:schemeClr val="bg1"/>
          </a:solidFill>
          <a:ln w="15875">
            <a:solidFill>
              <a:schemeClr val="accent2"/>
            </a:solidFill>
            <a:prstDash val="dash"/>
          </a:ln>
        </p:spPr>
      </p:sp>
      <p:sp>
        <p:nvSpPr>
          <p:cNvPr id="4" name="Text 2"/>
          <p:cNvSpPr txBox="1"/>
          <p:nvPr/>
        </p:nvSpPr>
        <p:spPr>
          <a:xfrm>
            <a:off x="457200" y="1051560"/>
            <a:ext cx="82296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aquí el diagrama 25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F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 cierre"/>
          <p:cNvSpPr/>
          <p:nvPr/>
        </p:nvSpPr>
        <p:spPr>
          <a:xfrm>
            <a:off x="5669280" y="-1097280"/>
            <a:ext cx="4754880" cy="4754880"/>
          </a:xfrm>
          <a:prstGeom prst="ellipse">
            <a:avLst/>
          </a:prstGeom>
          <a:solidFill>
            <a:schemeClr val="tx2">
              <a:alpha val="3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371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¿Preguntas?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14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Pablo Vásquez — 23004631  ·  Mario Blanco — 24002578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af">
  <a:themeElements>
    <a:clrScheme name="Leaf">
      <a:dk1>
        <a:srgbClr val="10261A"/>
      </a:dk1>
      <a:lt1>
        <a:srgbClr val="FFFFFF"/>
      </a:lt1>
      <a:dk2>
        <a:srgbClr val="2F6A1A"/>
      </a:dk2>
      <a:lt2>
        <a:srgbClr val="FEF7FF"/>
      </a:lt2>
      <a:accent1>
        <a:srgbClr val="2F6A1A"/>
      </a:accent1>
      <a:accent2>
        <a:srgbClr val="78B040"/>
      </a:accent2>
      <a:accent3>
        <a:srgbClr val="6AC1E0"/>
      </a:accent3>
      <a:accent4>
        <a:srgbClr val="1F5C7F"/>
      </a:accent4>
      <a:accent5>
        <a:srgbClr val="F5A623"/>
      </a:accent5>
      <a:accent6>
        <a:srgbClr val="FF1A00"/>
      </a:accent6>
      <a:hlink>
        <a:srgbClr val="1F5C7F"/>
      </a:hlink>
      <a:folHlink>
        <a:srgbClr val="2F6A1A"/>
      </a:folHlink>
    </a:clrScheme>
    <a:fontScheme name="Leaf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Leaf — Sistema de lectura y monitoreo de contadores de agua</dc:title>
  <dc:subject>PptxGenJS Presentation</dc:subject>
  <dc:creator>Pablo Vásquez, Mario Blanco</dc:creator>
  <cp:lastModifiedBy>Pablo Vásquez, Mario Blanco</cp:lastModifiedBy>
  <cp:revision>1</cp:revision>
  <dcterms:created xsi:type="dcterms:W3CDTF">2026-10-26T02:58:40Z</dcterms:created>
  <dcterms:modified xsi:type="dcterms:W3CDTF">2026-10-26T02:58:40Z</dcterms:modified>
</cp:coreProperties>
</file>