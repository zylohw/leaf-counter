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3" r:id="rId20"/>
    <p:sldId id="274" r:id="rId21"/>
    <p:sldId id="276" r:id="rId22"/>
    <p:sldId id="277" r:id="rId23"/>
    <p:sldId id="298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7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0E9C367-B979-3F7F-5958-F678B69291D7}">
          <p14:sldIdLst>
            <p14:sldId id="256"/>
            <p14:sldId id="257"/>
            <p14:sldId id="258"/>
          </p14:sldIdLst>
        </p14:section>
        <p14:section name="La solución" id="{F9761E9A-3CAC-3892-8116-39919E966C10}">
          <p14:sldIdLst>
            <p14:sldId id="259"/>
            <p14:sldId id="260"/>
          </p14:sldIdLst>
        </p14:section>
        <p14:section name="Vistas de la app" id="{A5467ADE-03AD-282E-E105-FA3BDB701260}">
          <p14:sldIdLst>
            <p14:sldId id="261"/>
            <p14:sldId id="262"/>
            <p14:sldId id="263"/>
          </p14:sldIdLst>
        </p14:section>
        <p14:section name="Arquitectura" id="{E40CEA07-9025-F7F9-56FA-AF011928308A}">
          <p14:sldIdLst>
            <p14:sldId id="264"/>
            <p14:sldId id="265"/>
            <p14:sldId id="266"/>
            <p14:sldId id="267"/>
          </p14:sldIdLst>
        </p14:section>
        <p14:section name="Gestión del proyecto" id="{F0C4A4A4-F647-6B68-2C75-61BBDCC4F549}">
          <p14:sldIdLst>
            <p14:sldId id="268"/>
            <p14:sldId id="269"/>
            <p14:sldId id="270"/>
          </p14:sldIdLst>
        </p14:section>
        <p14:section name="Diagramas" id="{8E8EF633-3576-E3A1-1046-69A3A05CD28B}">
          <p14:sldIdLst>
            <p14:sldId id="271"/>
            <p14:sldId id="275"/>
            <p14:sldId id="272"/>
            <p14:sldId id="273"/>
            <p14:sldId id="274"/>
            <p14:sldId id="276"/>
            <p14:sldId id="277"/>
            <p14:sldId id="298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033" autoAdjust="0"/>
  </p:normalViewPr>
  <p:slideViewPr>
    <p:cSldViewPr snapToGrid="0" snapToObjects="1">
      <p:cViewPr>
        <p:scale>
          <a:sx n="100" d="100"/>
          <a:sy n="100" d="100"/>
        </p:scale>
        <p:origin x="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6646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 la presentación de Leaf.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DEF7C-6572-68FB-D78C-E4AAE50A6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2629C-A899-6358-9755-4D2D2D2CB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F7534-D0BB-D8F8-674A-094AD5049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EE895-E3A4-83FF-28E2-DEE501D14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713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G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0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ulo 1"/>
          <p:cNvSpPr/>
          <p:nvPr/>
        </p:nvSpPr>
        <p:spPr>
          <a:xfrm>
            <a:off x="5669280" y="-1097280"/>
            <a:ext cx="4754880" cy="4754880"/>
          </a:xfrm>
          <a:prstGeom prst="ellipse">
            <a:avLst/>
          </a:prstGeom>
          <a:solidFill>
            <a:schemeClr val="tx2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decor circulo 2"/>
          <p:cNvSpPr/>
          <p:nvPr/>
        </p:nvSpPr>
        <p:spPr>
          <a:xfrm>
            <a:off x="6949440" y="2651760"/>
            <a:ext cx="3291840" cy="3291840"/>
          </a:xfrm>
          <a:prstGeom prst="ellipse">
            <a:avLst/>
          </a:prstGeom>
          <a:solidFill>
            <a:schemeClr val="accent4">
              <a:alpha val="25000"/>
            </a:schemeClr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marco Admin/Home.png"/>
          <p:cNvSpPr/>
          <p:nvPr/>
        </p:nvSpPr>
        <p:spPr>
          <a:xfrm>
            <a:off x="5751576" y="630936"/>
            <a:ext cx="1481328" cy="3202404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5" name="captura Admin/Home.png" descr="/home/claude/vistas/Leaf Vistas Finales/Admin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685800"/>
            <a:ext cx="1371600" cy="3092676"/>
          </a:xfrm>
          <a:prstGeom prst="rect">
            <a:avLst/>
          </a:prstGeom>
        </p:spPr>
      </p:pic>
      <p:sp>
        <p:nvSpPr>
          <p:cNvPr id="6" name="marco Usuario Comun/Home 1.png"/>
          <p:cNvSpPr/>
          <p:nvPr/>
        </p:nvSpPr>
        <p:spPr>
          <a:xfrm>
            <a:off x="7260336" y="1088136"/>
            <a:ext cx="1481328" cy="3223222"/>
          </a:xfrm>
          <a:prstGeom prst="roundRect">
            <a:avLst>
              <a:gd name="adj" fmla="val 740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captura Usuario Comun/Home 1.png" descr="/home/claude/vistas/Leaf Vistas Finales/Usuario Comun/Home 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143000"/>
            <a:ext cx="1371600" cy="311349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1188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lectura y monitoreo de contadores de agua</a:t>
            </a:r>
            <a:endParaRPr lang="en-US" sz="1800" dirty="0"/>
          </a:p>
        </p:txBody>
      </p:sp>
      <p:sp>
        <p:nvSpPr>
          <p:cNvPr id="10" name="chip 1"/>
          <p:cNvSpPr/>
          <p:nvPr/>
        </p:nvSpPr>
        <p:spPr>
          <a:xfrm>
            <a:off x="548640" y="2926080"/>
            <a:ext cx="1554480" cy="347472"/>
          </a:xfrm>
          <a:prstGeom prst="roundRect">
            <a:avLst>
              <a:gd name="adj" fmla="val 15789"/>
            </a:avLst>
          </a:prstGeom>
          <a:solidFill>
            <a:schemeClr val="tx2">
              <a:alpha val="50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7"/>
          <p:cNvSpPr txBox="1"/>
          <p:nvPr/>
        </p:nvSpPr>
        <p:spPr>
          <a:xfrm>
            <a:off x="548640" y="2926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— Flutter</a:t>
            </a:r>
            <a:endParaRPr lang="en-US" sz="1100" dirty="0"/>
          </a:p>
        </p:txBody>
      </p:sp>
      <p:sp>
        <p:nvSpPr>
          <p:cNvPr id="12" name="chip 2"/>
          <p:cNvSpPr/>
          <p:nvPr/>
        </p:nvSpPr>
        <p:spPr>
          <a:xfrm>
            <a:off x="2240280" y="2926080"/>
            <a:ext cx="1554480" cy="347472"/>
          </a:xfrm>
          <a:prstGeom prst="roundRect">
            <a:avLst>
              <a:gd name="adj" fmla="val 15789"/>
            </a:avLst>
          </a:prstGeom>
          <a:solidFill>
            <a:schemeClr val="tx2">
              <a:alpha val="50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9"/>
          <p:cNvSpPr txBox="1"/>
          <p:nvPr/>
        </p:nvSpPr>
        <p:spPr>
          <a:xfrm>
            <a:off x="2240280" y="2926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Express</a:t>
            </a:r>
            <a:endParaRPr lang="en-US" sz="1100" dirty="0"/>
          </a:p>
        </p:txBody>
      </p:sp>
      <p:sp>
        <p:nvSpPr>
          <p:cNvPr id="14" name="chip 3"/>
          <p:cNvSpPr/>
          <p:nvPr/>
        </p:nvSpPr>
        <p:spPr>
          <a:xfrm>
            <a:off x="3931920" y="2926080"/>
            <a:ext cx="1554480" cy="347472"/>
          </a:xfrm>
          <a:prstGeom prst="roundRect">
            <a:avLst>
              <a:gd name="adj" fmla="val 15789"/>
            </a:avLst>
          </a:prstGeom>
          <a:solidFill>
            <a:schemeClr val="tx2">
              <a:alpha val="50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Text 11"/>
          <p:cNvSpPr txBox="1"/>
          <p:nvPr/>
        </p:nvSpPr>
        <p:spPr>
          <a:xfrm>
            <a:off x="3931920" y="29260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AWS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114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FISICC · Ingeniería de Software · Catedrático: Ing. Axel Benavides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4389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Vásquez — 23004631  ·  Mario Blanco — 24002578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/>
              <a:t>¿Por </a:t>
            </a:r>
            <a:r>
              <a:rPr lang="en-US" sz="3000" dirty="0" err="1"/>
              <a:t>qué</a:t>
            </a:r>
            <a:r>
              <a:rPr lang="en-US" sz="3000" dirty="0"/>
              <a:t> </a:t>
            </a:r>
            <a:r>
              <a:rPr lang="en-US" sz="3000" dirty="0" err="1"/>
              <a:t>necesitamos</a:t>
            </a:r>
            <a:r>
              <a:rPr lang="en-US" sz="3000" dirty="0"/>
              <a:t> LEAF?</a:t>
            </a:r>
          </a:p>
        </p:txBody>
      </p:sp>
      <p:sp>
        <p:nvSpPr>
          <p:cNvPr id="4" name="tarjeta problema 1"/>
          <p:cNvSpPr/>
          <p:nvPr/>
        </p:nvSpPr>
        <p:spPr>
          <a:xfrm>
            <a:off x="457200" y="13258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problema 1 circulo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6" name="problema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35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1737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residentes no conocen su consumo hasta que reciben la factura, y no pueden detectar a tiempo una fuga.</a:t>
            </a:r>
            <a:endParaRPr lang="en-US" sz="1200" dirty="0"/>
          </a:p>
        </p:txBody>
      </p:sp>
      <p:sp>
        <p:nvSpPr>
          <p:cNvPr id="9" name="tarjeta problema 2"/>
          <p:cNvSpPr/>
          <p:nvPr/>
        </p:nvSpPr>
        <p:spPr>
          <a:xfrm>
            <a:off x="4663440" y="132588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problema 2 circulo"/>
          <p:cNvSpPr/>
          <p:nvPr/>
        </p:nvSpPr>
        <p:spPr>
          <a:xfrm>
            <a:off x="4846320" y="1600200"/>
            <a:ext cx="548640" cy="54864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1" name="problema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435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17373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emtir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recibos</a:t>
            </a: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tarjeta problema 3"/>
          <p:cNvSpPr/>
          <p:nvPr/>
        </p:nvSpPr>
        <p:spPr>
          <a:xfrm>
            <a:off x="457200" y="25603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problema 3 circulo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6" name="problema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9718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lento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personal anota en papel y luego pasa los datos a Excel para avisar a cada vecino.</a:t>
            </a:r>
            <a:endParaRPr lang="en-US" sz="1200" dirty="0"/>
          </a:p>
        </p:txBody>
      </p:sp>
      <p:sp>
        <p:nvSpPr>
          <p:cNvPr id="19" name="tarjeta problema 4"/>
          <p:cNvSpPr/>
          <p:nvPr/>
        </p:nvSpPr>
        <p:spPr>
          <a:xfrm>
            <a:off x="4663440" y="256032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problema 4 circulo"/>
          <p:cNvSpPr/>
          <p:nvPr/>
        </p:nvSpPr>
        <p:spPr>
          <a:xfrm>
            <a:off x="4846320" y="2834640"/>
            <a:ext cx="548640" cy="54864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1" name="problema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97180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7784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humanos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5577840" y="29718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cálculos de consumo se hacen a mano, con riesgo de equivocarse.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Objetivos del proyecto</a:t>
            </a:r>
            <a:endParaRPr lang="en-US" sz="3000" dirty="0"/>
          </a:p>
        </p:txBody>
      </p:sp>
      <p:sp>
        <p:nvSpPr>
          <p:cNvPr id="3" name="objetivo general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 txBox="1"/>
          <p:nvPr/>
        </p:nvSpPr>
        <p:spPr>
          <a:xfrm>
            <a:off x="68580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447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la lectura de contadores de agua en condominios, registrando evidencia fotográfica, controlando las fechas de lectura y notificando a los residentes sus resultados.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100" dirty="0"/>
          </a:p>
        </p:txBody>
      </p:sp>
      <p:sp>
        <p:nvSpPr>
          <p:cNvPr id="7" name="objetivo especifico 1"/>
          <p:cNvSpPr/>
          <p:nvPr/>
        </p:nvSpPr>
        <p:spPr>
          <a:xfrm>
            <a:off x="457200" y="269748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num 1"/>
          <p:cNvSpPr/>
          <p:nvPr/>
        </p:nvSpPr>
        <p:spPr>
          <a:xfrm>
            <a:off x="1577340" y="2852928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7"/>
          <p:cNvSpPr txBox="1"/>
          <p:nvPr/>
        </p:nvSpPr>
        <p:spPr>
          <a:xfrm>
            <a:off x="157734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84739" y="3388907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objetivo especifico 2"/>
          <p:cNvSpPr/>
          <p:nvPr/>
        </p:nvSpPr>
        <p:spPr>
          <a:xfrm>
            <a:off x="3246120" y="269748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num 2"/>
          <p:cNvSpPr/>
          <p:nvPr/>
        </p:nvSpPr>
        <p:spPr>
          <a:xfrm>
            <a:off x="4366260" y="2862776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 txBox="1"/>
          <p:nvPr/>
        </p:nvSpPr>
        <p:spPr>
          <a:xfrm>
            <a:off x="4366260" y="2852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80692" y="343814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por unidad</a:t>
            </a:r>
            <a:endParaRPr lang="en-US" sz="1400" dirty="0"/>
          </a:p>
        </p:txBody>
      </p:sp>
      <p:sp>
        <p:nvSpPr>
          <p:cNvPr id="17" name="objetivo especifico 3"/>
          <p:cNvSpPr/>
          <p:nvPr/>
        </p:nvSpPr>
        <p:spPr>
          <a:xfrm>
            <a:off x="6035040" y="2697480"/>
            <a:ext cx="2651760" cy="1737360"/>
          </a:xfrm>
          <a:prstGeom prst="roundRect">
            <a:avLst>
              <a:gd name="adj" fmla="val 4211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num 3"/>
          <p:cNvSpPr/>
          <p:nvPr/>
        </p:nvSpPr>
        <p:spPr>
          <a:xfrm>
            <a:off x="7155180" y="2880361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 dirty="0"/>
          </a:p>
        </p:txBody>
      </p:sp>
      <p:sp>
        <p:nvSpPr>
          <p:cNvPr id="19" name="Text 17"/>
          <p:cNvSpPr txBox="1"/>
          <p:nvPr/>
        </p:nvSpPr>
        <p:spPr>
          <a:xfrm>
            <a:off x="7155180" y="2880361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29400" y="3474721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al residente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0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Usuarios del sistema</a:t>
            </a:r>
            <a:endParaRPr lang="en-US" sz="3000" dirty="0"/>
          </a:p>
        </p:txBody>
      </p:sp>
      <p:sp>
        <p:nvSpPr>
          <p:cNvPr id="3" name="tarjeta rol 1"/>
          <p:cNvSpPr/>
          <p:nvPr/>
        </p:nvSpPr>
        <p:spPr>
          <a:xfrm>
            <a:off x="457200" y="1188720"/>
            <a:ext cx="2651760" cy="3200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rol 1 circulo"/>
          <p:cNvSpPr/>
          <p:nvPr/>
        </p:nvSpPr>
        <p:spPr>
          <a:xfrm>
            <a:off x="1371600" y="1417320"/>
            <a:ext cx="822960" cy="82296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5" name="rol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340" y="16230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834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Programa los ciclos de lectura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Supervisa el estado de todas las viviendas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Gestiona alertas y crea usuarios de mantenimiento</a:t>
            </a:r>
            <a:endParaRPr lang="en-US" sz="1200" dirty="0"/>
          </a:p>
        </p:txBody>
      </p:sp>
      <p:sp>
        <p:nvSpPr>
          <p:cNvPr id="8" name="tarjeta rol 2"/>
          <p:cNvSpPr/>
          <p:nvPr/>
        </p:nvSpPr>
        <p:spPr>
          <a:xfrm>
            <a:off x="3246120" y="1188720"/>
            <a:ext cx="2651760" cy="3200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rol 2 circulo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0" name="rol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6230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834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Ve las casas asignadas para lectura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Registra la medición con foto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Emite el reporte en PDF</a:t>
            </a:r>
            <a:endParaRPr lang="en-US" sz="1200" dirty="0"/>
          </a:p>
        </p:txBody>
      </p:sp>
      <p:sp>
        <p:nvSpPr>
          <p:cNvPr id="13" name="tarjeta rol 3"/>
          <p:cNvSpPr/>
          <p:nvPr/>
        </p:nvSpPr>
        <p:spPr>
          <a:xfrm>
            <a:off x="6035040" y="1188720"/>
            <a:ext cx="2651760" cy="3200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rol 3 circulo"/>
          <p:cNvSpPr/>
          <p:nvPr/>
        </p:nvSpPr>
        <p:spPr>
          <a:xfrm>
            <a:off x="6949440" y="1417320"/>
            <a:ext cx="822960" cy="822960"/>
          </a:xfrm>
          <a:prstGeom prst="ellipse">
            <a:avLst/>
          </a:prstGeom>
          <a:solidFill>
            <a:srgbClr val="78B040"/>
          </a:solidFill>
          <a:ln w="12700">
            <a:solidFill>
              <a:srgbClr val="78B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5" name="rol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62306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83464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Consulta su consumo actual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Revisa el historial por mes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Recibe avisos y reportes de su vivienda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Funcionalidades principales</a:t>
            </a:r>
            <a:endParaRPr lang="en-US" sz="3000" dirty="0"/>
          </a:p>
        </p:txBody>
      </p:sp>
      <p:sp>
        <p:nvSpPr>
          <p:cNvPr id="3" name="tarjeta funcionalidad 1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func 1 circulo"/>
          <p:cNvSpPr/>
          <p:nvPr/>
        </p:nvSpPr>
        <p:spPr>
          <a:xfrm>
            <a:off x="754380" y="1676869"/>
            <a:ext cx="457200" cy="45720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5" name="func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91169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48740" y="1676869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con foto</a:t>
            </a:r>
            <a:endParaRPr lang="en-US" sz="1400" dirty="0"/>
          </a:p>
        </p:txBody>
      </p:sp>
      <p:sp>
        <p:nvSpPr>
          <p:cNvPr id="8" name="tarjeta funcionalidad 2"/>
          <p:cNvSpPr/>
          <p:nvPr/>
        </p:nvSpPr>
        <p:spPr>
          <a:xfrm>
            <a:off x="324612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func 2 circulo"/>
          <p:cNvSpPr/>
          <p:nvPr/>
        </p:nvSpPr>
        <p:spPr>
          <a:xfrm>
            <a:off x="3486150" y="1686716"/>
            <a:ext cx="457200" cy="45720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0" name="func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50" y="180101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0510" y="16867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</a:t>
            </a:r>
            <a:endParaRPr lang="en-US" sz="1400" dirty="0"/>
          </a:p>
        </p:txBody>
      </p:sp>
      <p:sp>
        <p:nvSpPr>
          <p:cNvPr id="13" name="tarjeta funcionalidad 3"/>
          <p:cNvSpPr/>
          <p:nvPr/>
        </p:nvSpPr>
        <p:spPr>
          <a:xfrm>
            <a:off x="6035040" y="118872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func 3 circulo"/>
          <p:cNvSpPr/>
          <p:nvPr/>
        </p:nvSpPr>
        <p:spPr>
          <a:xfrm>
            <a:off x="6332220" y="1664208"/>
            <a:ext cx="457200" cy="45720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5" name="func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778508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26580" y="1664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400" dirty="0"/>
          </a:p>
        </p:txBody>
      </p:sp>
      <p:sp>
        <p:nvSpPr>
          <p:cNvPr id="18" name="tarjeta funcionalidad 4"/>
          <p:cNvSpPr/>
          <p:nvPr/>
        </p:nvSpPr>
        <p:spPr>
          <a:xfrm>
            <a:off x="457200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9" name="func 4 circulo"/>
          <p:cNvSpPr/>
          <p:nvPr/>
        </p:nvSpPr>
        <p:spPr>
          <a:xfrm>
            <a:off x="868680" y="3337912"/>
            <a:ext cx="457200" cy="45720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0" name="func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345221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3337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400" dirty="0"/>
          </a:p>
        </p:txBody>
      </p:sp>
      <p:sp>
        <p:nvSpPr>
          <p:cNvPr id="23" name="tarjeta funcionalidad 5"/>
          <p:cNvSpPr/>
          <p:nvPr/>
        </p:nvSpPr>
        <p:spPr>
          <a:xfrm>
            <a:off x="3246120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func 5 circulo"/>
          <p:cNvSpPr/>
          <p:nvPr/>
        </p:nvSpPr>
        <p:spPr>
          <a:xfrm>
            <a:off x="3429000" y="3337912"/>
            <a:ext cx="457200" cy="45720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5" name="func 5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345221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337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consumo</a:t>
            </a:r>
            <a:endParaRPr lang="en-US" sz="1400" dirty="0"/>
          </a:p>
        </p:txBody>
      </p:sp>
      <p:sp>
        <p:nvSpPr>
          <p:cNvPr id="28" name="tarjeta funcionalidad 6"/>
          <p:cNvSpPr/>
          <p:nvPr/>
        </p:nvSpPr>
        <p:spPr>
          <a:xfrm>
            <a:off x="6035040" y="2834640"/>
            <a:ext cx="265176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func 6 circulo"/>
          <p:cNvSpPr/>
          <p:nvPr/>
        </p:nvSpPr>
        <p:spPr>
          <a:xfrm>
            <a:off x="6309360" y="3309776"/>
            <a:ext cx="457200" cy="45720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30" name="func 6 icono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3660" y="3424076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33097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en PDF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Vistas — Administrador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ciclo de lectura</a:t>
            </a:r>
            <a:endParaRPr lang="en-US" sz="1400" dirty="0"/>
          </a:p>
        </p:txBody>
      </p:sp>
      <p:sp>
        <p:nvSpPr>
          <p:cNvPr id="4" name="panel descripcion"/>
          <p:cNvSpPr/>
          <p:nvPr/>
        </p:nvSpPr>
        <p:spPr>
          <a:xfrm>
            <a:off x="457200" y="1325880"/>
            <a:ext cx="2834640" cy="3108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Progreso de lecturas con medidor y casas pendientes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Supervisión por período y estado de cada vivienda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Programación de lecturas con indicaciones</a:t>
            </a:r>
            <a:endParaRPr lang="en-US" sz="1400" dirty="0"/>
          </a:p>
        </p:txBody>
      </p:sp>
      <p:sp>
        <p:nvSpPr>
          <p:cNvPr id="6" name="marco Progreso"/>
          <p:cNvSpPr/>
          <p:nvPr/>
        </p:nvSpPr>
        <p:spPr>
          <a:xfrm>
            <a:off x="3794760" y="1234440"/>
            <a:ext cx="1417320" cy="3081027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captura Progreso" descr="Vistas — Administrador — Progres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280160"/>
            <a:ext cx="1325880" cy="298958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749040" y="4361187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</a:t>
            </a:r>
            <a:endParaRPr lang="en-US" sz="1100" dirty="0"/>
          </a:p>
        </p:txBody>
      </p:sp>
      <p:sp>
        <p:nvSpPr>
          <p:cNvPr id="9" name="marco Supervisión"/>
          <p:cNvSpPr/>
          <p:nvPr/>
        </p:nvSpPr>
        <p:spPr>
          <a:xfrm>
            <a:off x="5349240" y="1234440"/>
            <a:ext cx="1417320" cy="2997769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0" name="captura Supervisión" descr="Vistas — Administrador — Supervisió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80160"/>
            <a:ext cx="1325880" cy="29063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4277929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</a:t>
            </a:r>
            <a:endParaRPr lang="en-US" sz="1100" dirty="0"/>
          </a:p>
        </p:txBody>
      </p:sp>
      <p:sp>
        <p:nvSpPr>
          <p:cNvPr id="12" name="marco Programación"/>
          <p:cNvSpPr/>
          <p:nvPr/>
        </p:nvSpPr>
        <p:spPr>
          <a:xfrm>
            <a:off x="6903720" y="1234440"/>
            <a:ext cx="1417320" cy="3013352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3" name="captura Programación" descr="Vistas — Administrador — Programació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80160"/>
            <a:ext cx="1325880" cy="29219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0" y="429351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Vistas — Mantenimiento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lecturas en campo</a:t>
            </a:r>
            <a:endParaRPr lang="en-US" sz="1400" dirty="0"/>
          </a:p>
        </p:txBody>
      </p:sp>
      <p:sp>
        <p:nvSpPr>
          <p:cNvPr id="4" name="panel descripcion"/>
          <p:cNvSpPr/>
          <p:nvPr/>
        </p:nvSpPr>
        <p:spPr>
          <a:xfrm>
            <a:off x="457200" y="1325880"/>
            <a:ext cx="2834640" cy="3108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Casas disponibles y resumen de reportes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Formulario de nueva lectura con medición y observaciones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Reportes registrados con emisión de PDF</a:t>
            </a:r>
            <a:endParaRPr lang="en-US" sz="1400" dirty="0"/>
          </a:p>
        </p:txBody>
      </p:sp>
      <p:sp>
        <p:nvSpPr>
          <p:cNvPr id="6" name="marco Inicio"/>
          <p:cNvSpPr/>
          <p:nvPr/>
        </p:nvSpPr>
        <p:spPr>
          <a:xfrm>
            <a:off x="3794760" y="1234440"/>
            <a:ext cx="1417320" cy="2984587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captura Inicio" descr="Vistas — Mantenimiento — Inic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280160"/>
            <a:ext cx="1325880" cy="28931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749040" y="4264747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100" dirty="0"/>
          </a:p>
        </p:txBody>
      </p:sp>
      <p:sp>
        <p:nvSpPr>
          <p:cNvPr id="9" name="marco Nueva lectura"/>
          <p:cNvSpPr/>
          <p:nvPr/>
        </p:nvSpPr>
        <p:spPr>
          <a:xfrm>
            <a:off x="5349240" y="1234440"/>
            <a:ext cx="1417320" cy="3172917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7"/>
          <p:cNvSpPr txBox="1"/>
          <p:nvPr/>
        </p:nvSpPr>
        <p:spPr>
          <a:xfrm>
            <a:off x="5303520" y="4453077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lectura</a:t>
            </a:r>
            <a:endParaRPr lang="en-US" sz="1100" dirty="0"/>
          </a:p>
        </p:txBody>
      </p:sp>
      <p:sp>
        <p:nvSpPr>
          <p:cNvPr id="12" name="marco Reportes"/>
          <p:cNvSpPr/>
          <p:nvPr/>
        </p:nvSpPr>
        <p:spPr>
          <a:xfrm>
            <a:off x="6903720" y="1234440"/>
            <a:ext cx="1417320" cy="301972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3" name="captura Reportes" descr="Vistas — Mantenimiento — Report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280160"/>
            <a:ext cx="1325880" cy="29282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0" y="4299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6C41255-B4BE-2145-4366-A501AF29E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770" y="1280160"/>
            <a:ext cx="1392260" cy="3145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Vistas — Residente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transparente</a:t>
            </a:r>
            <a:endParaRPr lang="en-US" sz="1400" dirty="0"/>
          </a:p>
        </p:txBody>
      </p:sp>
      <p:sp>
        <p:nvSpPr>
          <p:cNvPr id="4" name="panel descripcion"/>
          <p:cNvSpPr/>
          <p:nvPr/>
        </p:nvSpPr>
        <p:spPr>
          <a:xfrm>
            <a:off x="457200" y="1325880"/>
            <a:ext cx="2834640" cy="3108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 txBox="1"/>
          <p:nvPr/>
        </p:nvSpPr>
        <p:spPr>
          <a:xfrm>
            <a:off x="685800" y="155448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Consumo actual de su vivienda en un medidor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Avisos de lectura y reporte generado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A3F"/>
                </a:solidFill>
              </a:rPr>
              <a:t>Reportes recibidos filtrables por mes</a:t>
            </a:r>
            <a:endParaRPr lang="en-US" sz="1400" dirty="0"/>
          </a:p>
        </p:txBody>
      </p:sp>
      <p:sp>
        <p:nvSpPr>
          <p:cNvPr id="6" name="marco Consumo"/>
          <p:cNvSpPr/>
          <p:nvPr/>
        </p:nvSpPr>
        <p:spPr>
          <a:xfrm>
            <a:off x="3794760" y="1234440"/>
            <a:ext cx="1417320" cy="3101151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7" name="captura Consumo" descr="Vistas — Residente — Consu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280160"/>
            <a:ext cx="1325880" cy="300971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749040" y="4381311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100" dirty="0"/>
          </a:p>
        </p:txBody>
      </p:sp>
      <p:sp>
        <p:nvSpPr>
          <p:cNvPr id="9" name="marco Avisos"/>
          <p:cNvSpPr/>
          <p:nvPr/>
        </p:nvSpPr>
        <p:spPr>
          <a:xfrm>
            <a:off x="5349240" y="1234440"/>
            <a:ext cx="1417320" cy="3013287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0" name="captura Avisos" descr="Vistas — Residente — Avis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80160"/>
            <a:ext cx="1325880" cy="29218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4293447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</a:t>
            </a:r>
            <a:endParaRPr lang="en-US" sz="1100" dirty="0"/>
          </a:p>
        </p:txBody>
      </p:sp>
      <p:sp>
        <p:nvSpPr>
          <p:cNvPr id="12" name="marco Reportes"/>
          <p:cNvSpPr/>
          <p:nvPr/>
        </p:nvSpPr>
        <p:spPr>
          <a:xfrm>
            <a:off x="6903720" y="1234440"/>
            <a:ext cx="1417320" cy="3161899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3" name="captura Reportes" descr="Vistas — Residente — Repor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80160"/>
            <a:ext cx="1325880" cy="307045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0" y="4442059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Arquitectura del sistema</a:t>
            </a:r>
            <a:endParaRPr lang="en-US" sz="3000" dirty="0"/>
          </a:p>
        </p:txBody>
      </p:sp>
      <p:sp>
        <p:nvSpPr>
          <p:cNvPr id="3" name="columna 1"/>
          <p:cNvSpPr/>
          <p:nvPr/>
        </p:nvSpPr>
        <p:spPr>
          <a:xfrm>
            <a:off x="457200" y="1188720"/>
            <a:ext cx="2377440" cy="31089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arq 1 circulo"/>
          <p:cNvSpPr/>
          <p:nvPr/>
        </p:nvSpPr>
        <p:spPr>
          <a:xfrm>
            <a:off x="1280160" y="1371600"/>
            <a:ext cx="731520" cy="73152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5" name="arq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697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Flutter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Cámara para evidencia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Vistas por rol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Reportes PDF</a:t>
            </a:r>
            <a:endParaRPr lang="en-US" sz="1200" dirty="0"/>
          </a:p>
        </p:txBody>
      </p:sp>
      <p:sp>
        <p:nvSpPr>
          <p:cNvPr id="8" name="flecha 1"/>
          <p:cNvSpPr/>
          <p:nvPr/>
        </p:nvSpPr>
        <p:spPr>
          <a:xfrm>
            <a:off x="2880360" y="2606040"/>
            <a:ext cx="45720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columna 2"/>
          <p:cNvSpPr/>
          <p:nvPr/>
        </p:nvSpPr>
        <p:spPr>
          <a:xfrm>
            <a:off x="3383280" y="1188720"/>
            <a:ext cx="2377440" cy="31089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arq 2 circulo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1" name="arq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697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Express (API REST)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Lógica de negocio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Cálculo de consumo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Alojado en Amazon EC2</a:t>
            </a:r>
            <a:endParaRPr lang="en-US" sz="1200" dirty="0"/>
          </a:p>
        </p:txBody>
      </p:sp>
      <p:sp>
        <p:nvSpPr>
          <p:cNvPr id="14" name="flecha 2"/>
          <p:cNvSpPr/>
          <p:nvPr/>
        </p:nvSpPr>
        <p:spPr>
          <a:xfrm>
            <a:off x="5806440" y="2606040"/>
            <a:ext cx="45720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columna 3"/>
          <p:cNvSpPr/>
          <p:nvPr/>
        </p:nvSpPr>
        <p:spPr>
          <a:xfrm>
            <a:off x="6309360" y="1188720"/>
            <a:ext cx="2377440" cy="31089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arq 3 circulo"/>
          <p:cNvSpPr/>
          <p:nvPr/>
        </p:nvSpPr>
        <p:spPr>
          <a:xfrm>
            <a:off x="7132320" y="1371600"/>
            <a:ext cx="731520" cy="731520"/>
          </a:xfrm>
          <a:prstGeom prst="ellipse">
            <a:avLst/>
          </a:prstGeom>
          <a:solidFill>
            <a:srgbClr val="78B040"/>
          </a:solidFill>
          <a:ln w="12700">
            <a:solidFill>
              <a:srgbClr val="78B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7" name="arq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554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servicios AWS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0" y="26974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PostgreSQL en 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Fotos en Amazon S3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Cognito · SNS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F4A3F"/>
                </a:solidFill>
              </a:rPr>
              <a:t>CloudWatch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 a futuro: Amazon Textract (OCR) y AWS IoT Core (contadores inteligentes)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Flujo de una lectura</a:t>
            </a:r>
            <a:endParaRPr lang="en-US" sz="3000" dirty="0"/>
          </a:p>
        </p:txBody>
      </p:sp>
      <p:sp>
        <p:nvSpPr>
          <p:cNvPr id="3" name="paso 1"/>
          <p:cNvSpPr/>
          <p:nvPr/>
        </p:nvSpPr>
        <p:spPr>
          <a:xfrm>
            <a:off x="457200" y="1371600"/>
            <a:ext cx="1508760" cy="2067951"/>
          </a:xfrm>
          <a:prstGeom prst="roundRect">
            <a:avLst>
              <a:gd name="adj" fmla="val 4848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flujo 1 circulo"/>
          <p:cNvSpPr/>
          <p:nvPr/>
        </p:nvSpPr>
        <p:spPr>
          <a:xfrm>
            <a:off x="914400" y="1554480"/>
            <a:ext cx="594360" cy="594360"/>
          </a:xfrm>
          <a:prstGeom prst="ellipse">
            <a:avLst/>
          </a:prstGeom>
          <a:solidFill>
            <a:srgbClr val="78B040"/>
          </a:solidFill>
          <a:ln w="12700">
            <a:solidFill>
              <a:srgbClr val="78B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5" name="flujo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7030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Programar</a:t>
            </a:r>
            <a:endParaRPr lang="en-US" sz="1400" dirty="0"/>
          </a:p>
        </p:txBody>
      </p:sp>
      <p:sp>
        <p:nvSpPr>
          <p:cNvPr id="8" name="flecha flujo 1"/>
          <p:cNvSpPr/>
          <p:nvPr/>
        </p:nvSpPr>
        <p:spPr>
          <a:xfrm>
            <a:off x="1975104" y="2560320"/>
            <a:ext cx="13716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paso 2"/>
          <p:cNvSpPr/>
          <p:nvPr/>
        </p:nvSpPr>
        <p:spPr>
          <a:xfrm>
            <a:off x="2121408" y="1371600"/>
            <a:ext cx="1508760" cy="2067951"/>
          </a:xfrm>
          <a:prstGeom prst="roundRect">
            <a:avLst>
              <a:gd name="adj" fmla="val 4848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flujo 2 circulo"/>
          <p:cNvSpPr/>
          <p:nvPr/>
        </p:nvSpPr>
        <p:spPr>
          <a:xfrm>
            <a:off x="2578608" y="1554480"/>
            <a:ext cx="594360" cy="594360"/>
          </a:xfrm>
          <a:prstGeom prst="ellipse">
            <a:avLst/>
          </a:prstGeom>
          <a:solidFill>
            <a:srgbClr val="78B040"/>
          </a:solidFill>
          <a:ln w="12700">
            <a:solidFill>
              <a:srgbClr val="78B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1" name="flujo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7198" y="17030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12848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Registrar</a:t>
            </a:r>
            <a:endParaRPr lang="en-US" sz="1400" dirty="0"/>
          </a:p>
        </p:txBody>
      </p:sp>
      <p:sp>
        <p:nvSpPr>
          <p:cNvPr id="14" name="flecha flujo 2"/>
          <p:cNvSpPr/>
          <p:nvPr/>
        </p:nvSpPr>
        <p:spPr>
          <a:xfrm>
            <a:off x="3639312" y="2560320"/>
            <a:ext cx="13716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paso 3"/>
          <p:cNvSpPr/>
          <p:nvPr/>
        </p:nvSpPr>
        <p:spPr>
          <a:xfrm>
            <a:off x="3785616" y="1371600"/>
            <a:ext cx="1508760" cy="2067951"/>
          </a:xfrm>
          <a:prstGeom prst="roundRect">
            <a:avLst>
              <a:gd name="adj" fmla="val 4848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flujo 3 circulo"/>
          <p:cNvSpPr/>
          <p:nvPr/>
        </p:nvSpPr>
        <p:spPr>
          <a:xfrm>
            <a:off x="4242816" y="1554480"/>
            <a:ext cx="594360" cy="594360"/>
          </a:xfrm>
          <a:prstGeom prst="ellipse">
            <a:avLst/>
          </a:prstGeom>
          <a:solidFill>
            <a:srgbClr val="78B040"/>
          </a:solidFill>
          <a:ln w="12700">
            <a:solidFill>
              <a:srgbClr val="78B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7" name="flujo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406" y="17030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77056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Guardar</a:t>
            </a:r>
            <a:endParaRPr lang="en-US" sz="1400" dirty="0"/>
          </a:p>
        </p:txBody>
      </p:sp>
      <p:sp>
        <p:nvSpPr>
          <p:cNvPr id="20" name="flecha flujo 3"/>
          <p:cNvSpPr/>
          <p:nvPr/>
        </p:nvSpPr>
        <p:spPr>
          <a:xfrm>
            <a:off x="5303520" y="2560320"/>
            <a:ext cx="13716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paso 4"/>
          <p:cNvSpPr/>
          <p:nvPr/>
        </p:nvSpPr>
        <p:spPr>
          <a:xfrm>
            <a:off x="5449824" y="1371600"/>
            <a:ext cx="1508760" cy="2067951"/>
          </a:xfrm>
          <a:prstGeom prst="roundRect">
            <a:avLst>
              <a:gd name="adj" fmla="val 4848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flujo 4 circulo"/>
          <p:cNvSpPr/>
          <p:nvPr/>
        </p:nvSpPr>
        <p:spPr>
          <a:xfrm>
            <a:off x="5907024" y="1554480"/>
            <a:ext cx="594360" cy="594360"/>
          </a:xfrm>
          <a:prstGeom prst="ellipse">
            <a:avLst/>
          </a:prstGeom>
          <a:solidFill>
            <a:srgbClr val="78B040"/>
          </a:solidFill>
          <a:ln w="12700">
            <a:solidFill>
              <a:srgbClr val="78B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3" name="flujo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5614" y="170307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41264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Calcular</a:t>
            </a:r>
            <a:endParaRPr lang="en-US" sz="1400" dirty="0"/>
          </a:p>
        </p:txBody>
      </p:sp>
      <p:sp>
        <p:nvSpPr>
          <p:cNvPr id="26" name="flecha flujo 4"/>
          <p:cNvSpPr/>
          <p:nvPr/>
        </p:nvSpPr>
        <p:spPr>
          <a:xfrm>
            <a:off x="6967728" y="2560320"/>
            <a:ext cx="137160" cy="2286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7" name="paso 5"/>
          <p:cNvSpPr/>
          <p:nvPr/>
        </p:nvSpPr>
        <p:spPr>
          <a:xfrm>
            <a:off x="7114032" y="1371600"/>
            <a:ext cx="1508760" cy="2067951"/>
          </a:xfrm>
          <a:prstGeom prst="roundRect">
            <a:avLst>
              <a:gd name="adj" fmla="val 4848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8" name="flujo 5 circulo"/>
          <p:cNvSpPr/>
          <p:nvPr/>
        </p:nvSpPr>
        <p:spPr>
          <a:xfrm>
            <a:off x="7571232" y="1554480"/>
            <a:ext cx="594360" cy="594360"/>
          </a:xfrm>
          <a:prstGeom prst="ellipse">
            <a:avLst/>
          </a:prstGeom>
          <a:solidFill>
            <a:srgbClr val="78B040"/>
          </a:solidFill>
          <a:ln w="12700">
            <a:solidFill>
              <a:srgbClr val="78B04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9" name="flujo 5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9822" y="1703070"/>
            <a:ext cx="297180" cy="2971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05472" y="2331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Notificar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0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Servicios en AWS</a:t>
            </a:r>
            <a:endParaRPr lang="en-US" sz="3000" dirty="0"/>
          </a:p>
        </p:txBody>
      </p:sp>
      <p:sp>
        <p:nvSpPr>
          <p:cNvPr id="4" name="tarjeta aws 1"/>
          <p:cNvSpPr/>
          <p:nvPr/>
        </p:nvSpPr>
        <p:spPr>
          <a:xfrm>
            <a:off x="45720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aws 1 circulo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6" name="aws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65049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 el backend y la lógica de negocio.</a:t>
            </a:r>
            <a:endParaRPr lang="en-US" sz="1200" dirty="0"/>
          </a:p>
        </p:txBody>
      </p:sp>
      <p:sp>
        <p:nvSpPr>
          <p:cNvPr id="9" name="tarjeta aws 2"/>
          <p:cNvSpPr/>
          <p:nvPr/>
        </p:nvSpPr>
        <p:spPr>
          <a:xfrm>
            <a:off x="324612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aws 2 circulo"/>
          <p:cNvSpPr/>
          <p:nvPr/>
        </p:nvSpPr>
        <p:spPr>
          <a:xfrm>
            <a:off x="3429000" y="1536192"/>
            <a:ext cx="457200" cy="45720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1" name="aws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300" y="165049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administrado para toda la información.</a:t>
            </a:r>
            <a:endParaRPr lang="en-US" sz="1200" dirty="0"/>
          </a:p>
        </p:txBody>
      </p:sp>
      <p:sp>
        <p:nvSpPr>
          <p:cNvPr id="14" name="tarjeta aws 3"/>
          <p:cNvSpPr/>
          <p:nvPr/>
        </p:nvSpPr>
        <p:spPr>
          <a:xfrm>
            <a:off x="6035040" y="137160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5" name="aws 3 circulo"/>
          <p:cNvSpPr/>
          <p:nvPr/>
        </p:nvSpPr>
        <p:spPr>
          <a:xfrm>
            <a:off x="6217920" y="1536192"/>
            <a:ext cx="457200" cy="45720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6" name="aws 3 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65049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las fotos de los contadores.</a:t>
            </a:r>
            <a:endParaRPr lang="en-US" sz="1200" dirty="0"/>
          </a:p>
        </p:txBody>
      </p:sp>
      <p:sp>
        <p:nvSpPr>
          <p:cNvPr id="19" name="tarjeta aws 4"/>
          <p:cNvSpPr/>
          <p:nvPr/>
        </p:nvSpPr>
        <p:spPr>
          <a:xfrm>
            <a:off x="45720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aws 4 circulo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1" name="aws 4 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320497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y acceso según el rol.</a:t>
            </a:r>
            <a:endParaRPr lang="en-US" sz="1200" dirty="0"/>
          </a:p>
        </p:txBody>
      </p:sp>
      <p:sp>
        <p:nvSpPr>
          <p:cNvPr id="24" name="tarjeta aws 5"/>
          <p:cNvSpPr/>
          <p:nvPr/>
        </p:nvSpPr>
        <p:spPr>
          <a:xfrm>
            <a:off x="324612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aws 5 circulo"/>
          <p:cNvSpPr/>
          <p:nvPr/>
        </p:nvSpPr>
        <p:spPr>
          <a:xfrm>
            <a:off x="3429000" y="3090672"/>
            <a:ext cx="457200" cy="45720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26" name="aws 5 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3300" y="320497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de lectura, consumo alto y posible fuga.</a:t>
            </a:r>
            <a:endParaRPr lang="en-US" sz="1200" dirty="0"/>
          </a:p>
        </p:txBody>
      </p:sp>
      <p:sp>
        <p:nvSpPr>
          <p:cNvPr id="29" name="tarjeta aws 6"/>
          <p:cNvSpPr/>
          <p:nvPr/>
        </p:nvSpPr>
        <p:spPr>
          <a:xfrm>
            <a:off x="6035040" y="292608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aws 6 circulo"/>
          <p:cNvSpPr/>
          <p:nvPr/>
        </p:nvSpPr>
        <p:spPr>
          <a:xfrm>
            <a:off x="6217920" y="3090672"/>
            <a:ext cx="457200" cy="45720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31" name="aws 6 icono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2220" y="3204972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2280" y="309067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registro de errores y auditoría.</a:t>
            </a:r>
            <a:endParaRPr lang="en-US" sz="1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Modelo de datos — PostgreSQL</a:t>
            </a:r>
            <a:endParaRPr lang="en-US" sz="3000" dirty="0"/>
          </a:p>
        </p:txBody>
      </p:sp>
      <p:sp>
        <p:nvSpPr>
          <p:cNvPr id="4" name="tabla rol"/>
          <p:cNvSpPr/>
          <p:nvPr/>
        </p:nvSpPr>
        <p:spPr>
          <a:xfrm>
            <a:off x="457200" y="128016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etiqueta rol"/>
          <p:cNvSpPr/>
          <p:nvPr/>
        </p:nvSpPr>
        <p:spPr>
          <a:xfrm>
            <a:off x="594360" y="143560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 txBox="1"/>
          <p:nvPr/>
        </p:nvSpPr>
        <p:spPr>
          <a:xfrm>
            <a:off x="594360" y="1435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3533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nombre · estado</a:t>
            </a:r>
            <a:endParaRPr lang="en-US" sz="1100" dirty="0"/>
          </a:p>
        </p:txBody>
      </p:sp>
      <p:sp>
        <p:nvSpPr>
          <p:cNvPr id="8" name="tabla usuarios"/>
          <p:cNvSpPr/>
          <p:nvPr/>
        </p:nvSpPr>
        <p:spPr>
          <a:xfrm>
            <a:off x="4663440" y="128016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etiqueta usuarios"/>
          <p:cNvSpPr/>
          <p:nvPr/>
        </p:nvSpPr>
        <p:spPr>
          <a:xfrm>
            <a:off x="4800600" y="143560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4800600" y="143560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3533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· correo · contraseña · rol_id</a:t>
            </a:r>
            <a:endParaRPr lang="en-US" sz="1100" dirty="0"/>
          </a:p>
        </p:txBody>
      </p:sp>
      <p:sp>
        <p:nvSpPr>
          <p:cNvPr id="12" name="tabla casa"/>
          <p:cNvSpPr/>
          <p:nvPr/>
        </p:nvSpPr>
        <p:spPr>
          <a:xfrm>
            <a:off x="457200" y="205740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etiqueta casa"/>
          <p:cNvSpPr/>
          <p:nvPr/>
        </p:nvSpPr>
        <p:spPr>
          <a:xfrm>
            <a:off x="594360" y="221284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 txBox="1"/>
          <p:nvPr/>
        </p:nvSpPr>
        <p:spPr>
          <a:xfrm>
            <a:off x="594360" y="22128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13055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número · estado</a:t>
            </a:r>
            <a:endParaRPr lang="en-US" sz="1100" dirty="0"/>
          </a:p>
        </p:txBody>
      </p:sp>
      <p:sp>
        <p:nvSpPr>
          <p:cNvPr id="16" name="tabla tiene"/>
          <p:cNvSpPr/>
          <p:nvPr/>
        </p:nvSpPr>
        <p:spPr>
          <a:xfrm>
            <a:off x="4663440" y="205740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etiqueta tiene"/>
          <p:cNvSpPr/>
          <p:nvPr/>
        </p:nvSpPr>
        <p:spPr>
          <a:xfrm>
            <a:off x="4800600" y="221284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 txBox="1"/>
          <p:nvPr/>
        </p:nvSpPr>
        <p:spPr>
          <a:xfrm>
            <a:off x="4800600" y="22128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3055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usuario_id · casa_id · habita</a:t>
            </a:r>
            <a:endParaRPr lang="en-US" sz="1100" dirty="0"/>
          </a:p>
        </p:txBody>
      </p:sp>
      <p:sp>
        <p:nvSpPr>
          <p:cNvPr id="20" name="tabla reporte"/>
          <p:cNvSpPr/>
          <p:nvPr/>
        </p:nvSpPr>
        <p:spPr>
          <a:xfrm>
            <a:off x="457200" y="283464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1" name="etiqueta reporte"/>
          <p:cNvSpPr/>
          <p:nvPr/>
        </p:nvSpPr>
        <p:spPr>
          <a:xfrm>
            <a:off x="594360" y="299008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 txBox="1"/>
          <p:nvPr/>
        </p:nvSpPr>
        <p:spPr>
          <a:xfrm>
            <a:off x="594360" y="2990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290779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· descripción · pdf · fecha · usuario_id</a:t>
            </a:r>
            <a:endParaRPr lang="en-US" sz="1100" dirty="0"/>
          </a:p>
        </p:txBody>
      </p:sp>
      <p:sp>
        <p:nvSpPr>
          <p:cNvPr id="24" name="tabla reciben"/>
          <p:cNvSpPr/>
          <p:nvPr/>
        </p:nvSpPr>
        <p:spPr>
          <a:xfrm>
            <a:off x="4663440" y="283464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5" name="etiqueta reciben"/>
          <p:cNvSpPr/>
          <p:nvPr/>
        </p:nvSpPr>
        <p:spPr>
          <a:xfrm>
            <a:off x="4800600" y="299008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 txBox="1"/>
          <p:nvPr/>
        </p:nvSpPr>
        <p:spPr>
          <a:xfrm>
            <a:off x="4800600" y="2990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290779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casa_id · reporte_id · recibido</a:t>
            </a:r>
            <a:endParaRPr lang="en-US" sz="1100" dirty="0"/>
          </a:p>
        </p:txBody>
      </p:sp>
      <p:sp>
        <p:nvSpPr>
          <p:cNvPr id="28" name="tabla datos"/>
          <p:cNvSpPr/>
          <p:nvPr/>
        </p:nvSpPr>
        <p:spPr>
          <a:xfrm>
            <a:off x="457200" y="361188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9" name="etiqueta datos"/>
          <p:cNvSpPr/>
          <p:nvPr/>
        </p:nvSpPr>
        <p:spPr>
          <a:xfrm>
            <a:off x="594360" y="376732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 txBox="1"/>
          <p:nvPr/>
        </p:nvSpPr>
        <p:spPr>
          <a:xfrm>
            <a:off x="594360" y="37673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368503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medida_tomada · foto · contenido · reporte_id</a:t>
            </a:r>
            <a:endParaRPr lang="en-US" sz="1100" dirty="0"/>
          </a:p>
        </p:txBody>
      </p:sp>
      <p:sp>
        <p:nvSpPr>
          <p:cNvPr id="32" name="tabla notificaciones"/>
          <p:cNvSpPr/>
          <p:nvPr/>
        </p:nvSpPr>
        <p:spPr>
          <a:xfrm>
            <a:off x="4663440" y="3611880"/>
            <a:ext cx="402336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3" name="etiqueta notificaciones"/>
          <p:cNvSpPr/>
          <p:nvPr/>
        </p:nvSpPr>
        <p:spPr>
          <a:xfrm>
            <a:off x="4800600" y="3767328"/>
            <a:ext cx="1234440" cy="347472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4" name="Text 32"/>
          <p:cNvSpPr txBox="1"/>
          <p:nvPr/>
        </p:nvSpPr>
        <p:spPr>
          <a:xfrm>
            <a:off x="4800600" y="37673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368503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· fecha · reporte_id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Riesgos principales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1 a 5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8803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Retraso por equipo limitado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Seguir la calendarización sin desviaciones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Cambios de alcance durante el desarrollo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Asegurar el producto final antes de iniciar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no funcione el 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cada funcionalidad con cuidado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 captura de datos desde la foto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Vista para corregir el dato y OCR bien definido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Resistencia al cambio del personal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simulada y encuesta al personal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Poco tiempo por otros cursos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A3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Reservar tiempo fijo para el proyecto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Calendarización</a:t>
            </a:r>
            <a:endParaRPr lang="en-US" sz="3000" dirty="0"/>
          </a:p>
        </p:txBody>
      </p:sp>
      <p:sp>
        <p:nvSpPr>
          <p:cNvPr id="3" name="semana 1"/>
          <p:cNvSpPr/>
          <p:nvPr/>
        </p:nvSpPr>
        <p:spPr>
          <a:xfrm>
            <a:off x="457200" y="1097280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</a:t>
            </a:r>
            <a:endParaRPr lang="en-US" sz="1300" dirty="0"/>
          </a:p>
        </p:txBody>
      </p:sp>
      <p:sp>
        <p:nvSpPr>
          <p:cNvPr id="5" name="actividad 1"/>
          <p:cNvSpPr/>
          <p:nvPr/>
        </p:nvSpPr>
        <p:spPr>
          <a:xfrm>
            <a:off x="1965960" y="1097280"/>
            <a:ext cx="6720840" cy="365760"/>
          </a:xfrm>
          <a:prstGeom prst="roundRect">
            <a:avLst>
              <a:gd name="adj" fmla="val 20000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 txBox="1"/>
          <p:nvPr/>
        </p:nvSpPr>
        <p:spPr>
          <a:xfrm>
            <a:off x="214884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datos y arquitectura base</a:t>
            </a:r>
            <a:endParaRPr lang="en-US" sz="1300" dirty="0"/>
          </a:p>
        </p:txBody>
      </p:sp>
      <p:sp>
        <p:nvSpPr>
          <p:cNvPr id="7" name="semana 2"/>
          <p:cNvSpPr/>
          <p:nvPr/>
        </p:nvSpPr>
        <p:spPr>
          <a:xfrm>
            <a:off x="457200" y="1572768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 txBox="1"/>
          <p:nvPr/>
        </p:nvSpPr>
        <p:spPr>
          <a:xfrm>
            <a:off x="457200" y="15727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3–5</a:t>
            </a:r>
            <a:endParaRPr lang="en-US" sz="1300" dirty="0"/>
          </a:p>
        </p:txBody>
      </p:sp>
      <p:sp>
        <p:nvSpPr>
          <p:cNvPr id="9" name="actividad 2"/>
          <p:cNvSpPr/>
          <p:nvPr/>
        </p:nvSpPr>
        <p:spPr>
          <a:xfrm>
            <a:off x="1965960" y="1572768"/>
            <a:ext cx="6720840" cy="365760"/>
          </a:xfrm>
          <a:prstGeom prst="roundRect">
            <a:avLst>
              <a:gd name="adj" fmla="val 20000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 txBox="1"/>
          <p:nvPr/>
        </p:nvSpPr>
        <p:spPr>
          <a:xfrm>
            <a:off x="2148840" y="1572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paralelo de backend y frontend</a:t>
            </a:r>
            <a:endParaRPr lang="en-US" sz="1300" dirty="0"/>
          </a:p>
        </p:txBody>
      </p:sp>
      <p:sp>
        <p:nvSpPr>
          <p:cNvPr id="11" name="semana 3"/>
          <p:cNvSpPr/>
          <p:nvPr/>
        </p:nvSpPr>
        <p:spPr>
          <a:xfrm>
            <a:off x="457200" y="2048256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10"/>
          <p:cNvSpPr txBox="1"/>
          <p:nvPr/>
        </p:nvSpPr>
        <p:spPr>
          <a:xfrm>
            <a:off x="457200" y="20482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6</a:t>
            </a:r>
            <a:endParaRPr lang="en-US" sz="1300" dirty="0"/>
          </a:p>
        </p:txBody>
      </p:sp>
      <p:sp>
        <p:nvSpPr>
          <p:cNvPr id="13" name="actividad 3"/>
          <p:cNvSpPr/>
          <p:nvPr/>
        </p:nvSpPr>
        <p:spPr>
          <a:xfrm>
            <a:off x="1965960" y="2048256"/>
            <a:ext cx="6720840" cy="365760"/>
          </a:xfrm>
          <a:prstGeom prst="roundRect">
            <a:avLst>
              <a:gd name="adj" fmla="val 20000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 txBox="1"/>
          <p:nvPr/>
        </p:nvSpPr>
        <p:spPr>
          <a:xfrm>
            <a:off x="2148840" y="204825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pruebas iniciales con otros contadores</a:t>
            </a:r>
            <a:endParaRPr lang="en-US" sz="1300" dirty="0"/>
          </a:p>
        </p:txBody>
      </p:sp>
      <p:sp>
        <p:nvSpPr>
          <p:cNvPr id="15" name="semana 4"/>
          <p:cNvSpPr/>
          <p:nvPr/>
        </p:nvSpPr>
        <p:spPr>
          <a:xfrm>
            <a:off x="457200" y="2523744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 txBox="1"/>
          <p:nvPr/>
        </p:nvSpPr>
        <p:spPr>
          <a:xfrm>
            <a:off x="457200" y="25237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7</a:t>
            </a:r>
            <a:endParaRPr lang="en-US" sz="1300" dirty="0"/>
          </a:p>
        </p:txBody>
      </p:sp>
      <p:sp>
        <p:nvSpPr>
          <p:cNvPr id="17" name="actividad 4"/>
          <p:cNvSpPr/>
          <p:nvPr/>
        </p:nvSpPr>
        <p:spPr>
          <a:xfrm>
            <a:off x="1965960" y="2523744"/>
            <a:ext cx="6720840" cy="365760"/>
          </a:xfrm>
          <a:prstGeom prst="roundRect">
            <a:avLst>
              <a:gd name="adj" fmla="val 20000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 txBox="1"/>
          <p:nvPr/>
        </p:nvSpPr>
        <p:spPr>
          <a:xfrm>
            <a:off x="2148840" y="252374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diseño y funcionalidades livianas</a:t>
            </a:r>
            <a:endParaRPr lang="en-US" sz="1300" dirty="0"/>
          </a:p>
        </p:txBody>
      </p:sp>
      <p:sp>
        <p:nvSpPr>
          <p:cNvPr id="19" name="semana 5"/>
          <p:cNvSpPr/>
          <p:nvPr/>
        </p:nvSpPr>
        <p:spPr>
          <a:xfrm>
            <a:off x="457200" y="2999232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 txBox="1"/>
          <p:nvPr/>
        </p:nvSpPr>
        <p:spPr>
          <a:xfrm>
            <a:off x="457200" y="29992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9–10</a:t>
            </a:r>
            <a:endParaRPr lang="en-US" sz="1300" dirty="0"/>
          </a:p>
        </p:txBody>
      </p:sp>
      <p:sp>
        <p:nvSpPr>
          <p:cNvPr id="21" name="actividad 5"/>
          <p:cNvSpPr/>
          <p:nvPr/>
        </p:nvSpPr>
        <p:spPr>
          <a:xfrm>
            <a:off x="1965960" y="2999232"/>
            <a:ext cx="6720840" cy="365760"/>
          </a:xfrm>
          <a:prstGeom prst="roundRect">
            <a:avLst>
              <a:gd name="adj" fmla="val 20000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 txBox="1"/>
          <p:nvPr/>
        </p:nvSpPr>
        <p:spPr>
          <a:xfrm>
            <a:off x="2148840" y="299923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la fase 1 e inicio de documentación</a:t>
            </a:r>
            <a:endParaRPr lang="en-US" sz="1300" dirty="0"/>
          </a:p>
        </p:txBody>
      </p:sp>
      <p:sp>
        <p:nvSpPr>
          <p:cNvPr id="23" name="semana 6"/>
          <p:cNvSpPr/>
          <p:nvPr/>
        </p:nvSpPr>
        <p:spPr>
          <a:xfrm>
            <a:off x="457200" y="3474720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4" name="Text 22"/>
          <p:cNvSpPr txBox="1"/>
          <p:nvPr/>
        </p:nvSpPr>
        <p:spPr>
          <a:xfrm>
            <a:off x="457200" y="3474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11–12</a:t>
            </a:r>
            <a:endParaRPr lang="en-US" sz="1300" dirty="0"/>
          </a:p>
        </p:txBody>
      </p:sp>
      <p:sp>
        <p:nvSpPr>
          <p:cNvPr id="25" name="actividad 6"/>
          <p:cNvSpPr/>
          <p:nvPr/>
        </p:nvSpPr>
        <p:spPr>
          <a:xfrm>
            <a:off x="1965960" y="3474720"/>
            <a:ext cx="6720840" cy="365760"/>
          </a:xfrm>
          <a:prstGeom prst="roundRect">
            <a:avLst>
              <a:gd name="adj" fmla="val 20000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 txBox="1"/>
          <p:nvPr/>
        </p:nvSpPr>
        <p:spPr>
          <a:xfrm>
            <a:off x="214884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errores y documentación técnica</a:t>
            </a:r>
            <a:endParaRPr lang="en-US" sz="1300" dirty="0"/>
          </a:p>
        </p:txBody>
      </p:sp>
      <p:sp>
        <p:nvSpPr>
          <p:cNvPr id="27" name="semana 7"/>
          <p:cNvSpPr/>
          <p:nvPr/>
        </p:nvSpPr>
        <p:spPr>
          <a:xfrm>
            <a:off x="457200" y="3950208"/>
            <a:ext cx="1371600" cy="36576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28" name="Text 26"/>
          <p:cNvSpPr txBox="1"/>
          <p:nvPr/>
        </p:nvSpPr>
        <p:spPr>
          <a:xfrm>
            <a:off x="457200" y="39502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13</a:t>
            </a:r>
            <a:endParaRPr lang="en-US" sz="1300" dirty="0"/>
          </a:p>
        </p:txBody>
      </p:sp>
      <p:sp>
        <p:nvSpPr>
          <p:cNvPr id="29" name="actividad 7"/>
          <p:cNvSpPr/>
          <p:nvPr/>
        </p:nvSpPr>
        <p:spPr>
          <a:xfrm>
            <a:off x="1965960" y="3950208"/>
            <a:ext cx="6720840" cy="365760"/>
          </a:xfrm>
          <a:prstGeom prst="roundRect">
            <a:avLst>
              <a:gd name="adj" fmla="val 20000"/>
            </a:avLst>
          </a:prstGeom>
          <a:solidFill>
            <a:schemeClr val="tx2">
              <a:alpha val="45000"/>
            </a:schemeClr>
          </a:solidFill>
          <a:ln w="952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0" name="Text 28"/>
          <p:cNvSpPr txBox="1"/>
          <p:nvPr/>
        </p:nvSpPr>
        <p:spPr>
          <a:xfrm>
            <a:off x="2148840" y="39502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la presentación final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0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Hacia la fase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queda lista para automatizar la lectura</a:t>
            </a:r>
            <a:endParaRPr lang="en-US" sz="1400" dirty="0"/>
          </a:p>
        </p:txBody>
      </p:sp>
      <p:sp>
        <p:nvSpPr>
          <p:cNvPr id="4" name="tarjeta futuro 1"/>
          <p:cNvSpPr/>
          <p:nvPr/>
        </p:nvSpPr>
        <p:spPr>
          <a:xfrm>
            <a:off x="457200" y="13258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futuro 1 circulo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2F6A1A"/>
          </a:solidFill>
          <a:ln w="12700">
            <a:solidFill>
              <a:srgbClr val="2F6A1A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6" name="futuro 1 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7145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automática por OCR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A3F"/>
                </a:solidFill>
              </a:rPr>
              <a:t>Analiza la foto guardada en S3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A3F"/>
                </a:solidFill>
              </a:rPr>
              <a:t>Extrae el valor del contador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A3F"/>
                </a:solidFill>
              </a:rPr>
              <a:t>Valida lecturas y reduce errores humanos</a:t>
            </a:r>
            <a:endParaRPr lang="en-US" sz="1300" dirty="0"/>
          </a:p>
        </p:txBody>
      </p:sp>
      <p:sp>
        <p:nvSpPr>
          <p:cNvPr id="10" name="tarjeta futuro 2"/>
          <p:cNvSpPr/>
          <p:nvPr/>
        </p:nvSpPr>
        <p:spPr>
          <a:xfrm>
            <a:off x="4663440" y="1325880"/>
            <a:ext cx="4023360" cy="3017520"/>
          </a:xfrm>
          <a:prstGeom prst="roundRect">
            <a:avLst>
              <a:gd name="adj" fmla="val 2424"/>
            </a:avLst>
          </a:prstGeom>
          <a:solidFill>
            <a:schemeClr val="bg1"/>
          </a:solidFill>
          <a:ln w="9525">
            <a:solidFill>
              <a:srgbClr val="DCE6D8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futuro 2 circulo"/>
          <p:cNvSpPr/>
          <p:nvPr/>
        </p:nvSpPr>
        <p:spPr>
          <a:xfrm>
            <a:off x="4937760" y="1554480"/>
            <a:ext cx="640080" cy="640080"/>
          </a:xfrm>
          <a:prstGeom prst="ellipse">
            <a:avLst/>
          </a:prstGeom>
          <a:solidFill>
            <a:srgbClr val="1F5C7F"/>
          </a:solidFill>
          <a:ln w="12700">
            <a:solidFill>
              <a:srgbClr val="1F5C7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pic>
        <p:nvPicPr>
          <p:cNvPr id="12" name="futuro 2 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7145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AWS IoT Core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tiempo real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983480" y="25603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A3F"/>
                </a:solidFill>
              </a:rPr>
              <a:t>Sensor y microcontrolador en el contador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A3F"/>
                </a:solidFill>
              </a:rPr>
              <a:t>Envío directo de lecturas a la nube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F4A3F"/>
                </a:solidFill>
              </a:rPr>
              <a:t>Detección temprana de fugas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divisor"/>
          <p:cNvSpPr/>
          <p:nvPr/>
        </p:nvSpPr>
        <p:spPr>
          <a:xfrm>
            <a:off x="5943600" y="914400"/>
            <a:ext cx="4114800" cy="4114800"/>
          </a:xfrm>
          <a:prstGeom prst="ellipse">
            <a:avLst/>
          </a:prstGeom>
          <a:solidFill>
            <a:schemeClr val="tx2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Diagramas del sistema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entidad-relación y modelos UML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diagramas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B08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785360" y="594360"/>
            <a:ext cx="362712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Entidad</a:t>
            </a:r>
            <a:r>
              <a:rPr lang="en-US" sz="3000" b="1" dirty="0">
                <a:solidFill>
                  <a:schemeClr val="tx2"/>
                </a:solidFill>
              </a:rPr>
              <a:t> Relacion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E46414-C72F-CEE1-6C21-42EB21FEA7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65794" y="335338"/>
            <a:ext cx="5927386" cy="446526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44645" y="1240339"/>
            <a:ext cx="3937819" cy="2297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clases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56C576-96DC-E78E-07E2-381539517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1044"/>
            <a:ext cx="2328354" cy="468141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958813" y="1838755"/>
            <a:ext cx="4033684" cy="146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2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clases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2C4259-33DF-B030-816D-364090A93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0155"/>
            <a:ext cx="2790395" cy="45231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65760" y="214867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3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Componentes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7195B6B-BA8B-AEA1-F64F-CC94F0C04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709" y="823975"/>
            <a:ext cx="6120581" cy="40909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4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Componentes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EF50AD8-196C-0EE1-560E-7B5F329C1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53936"/>
            <a:ext cx="7863840" cy="400712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5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Despliegue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0901ACB-2B92-62EA-4E53-AE288AB22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44" y="1546764"/>
            <a:ext cx="8262911" cy="23318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AD525-DD36-A1B4-68C7-4DE81D69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A68FF8-2A1A-4F34-4681-6D364A03DAF5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850566" y="1832610"/>
            <a:ext cx="3927673" cy="147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6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Despliegue</a:t>
            </a:r>
            <a:endParaRPr lang="en-US" sz="3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AE2CEE2-5F08-486D-2301-2775CB3A38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4FD950-AA8E-78B1-4543-9998D4120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1" y="460301"/>
            <a:ext cx="4073109" cy="422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56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7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Estructura</a:t>
            </a:r>
            <a:r>
              <a:rPr lang="en-US" sz="3000" b="1" dirty="0">
                <a:solidFill>
                  <a:schemeClr val="tx2"/>
                </a:solidFill>
              </a:rPr>
              <a:t> </a:t>
            </a:r>
            <a:r>
              <a:rPr lang="en-US" sz="3000" b="1" dirty="0" err="1">
                <a:solidFill>
                  <a:schemeClr val="tx2"/>
                </a:solidFill>
              </a:rPr>
              <a:t>Compuesta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E2393F7-8633-9EF3-FF2D-1B9917090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42060"/>
            <a:ext cx="7955280" cy="32613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838700" y="1756409"/>
            <a:ext cx="3939540" cy="163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8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Estructura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572149-F231-19C9-227A-8AD643696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271"/>
            <a:ext cx="4156871" cy="432095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20980" y="1689734"/>
            <a:ext cx="2514600" cy="1764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9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dirty="0" err="1"/>
              <a:t>P</a:t>
            </a:r>
            <a:r>
              <a:rPr lang="en-US" sz="3000" b="1" dirty="0" err="1">
                <a:solidFill>
                  <a:schemeClr val="tx2"/>
                </a:solidFill>
              </a:rPr>
              <a:t>aquetes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5C07924-6C92-81A6-5462-BC03FF6B2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80" y="256561"/>
            <a:ext cx="6149340" cy="454403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5183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10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dirty="0" err="1"/>
              <a:t>P</a:t>
            </a:r>
            <a:r>
              <a:rPr lang="en-US" sz="3000" b="1" dirty="0" err="1">
                <a:solidFill>
                  <a:schemeClr val="tx2"/>
                </a:solidFill>
              </a:rPr>
              <a:t>aquetes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262806-4BDD-9BEA-0F87-F9B79604C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9056"/>
            <a:ext cx="8686800" cy="40315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11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Perfiles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FB7F137-7855-5976-8912-554273DFB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17" y="792480"/>
            <a:ext cx="6851566" cy="42367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12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Perfiles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15AD200-842D-68BC-98EF-E5C17BD24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268" y="982892"/>
            <a:ext cx="6467464" cy="38177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13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Secuencia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8D7FC6-87F9-B0EA-B874-B1D807609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910" y="1087502"/>
            <a:ext cx="6774180" cy="382358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14 — </a:t>
            </a:r>
            <a:r>
              <a:rPr lang="en-US" sz="3000" b="1" dirty="0" err="1">
                <a:solidFill>
                  <a:schemeClr val="tx2"/>
                </a:solidFill>
              </a:rPr>
              <a:t>Diagra</a:t>
            </a:r>
            <a:r>
              <a:rPr lang="en-US" dirty="0" err="1"/>
              <a:t>ma</a:t>
            </a:r>
            <a:r>
              <a:rPr lang="en-US" dirty="0"/>
              <a:t> de </a:t>
            </a:r>
            <a:r>
              <a:rPr lang="en-US" dirty="0" err="1"/>
              <a:t>Secuencia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B81AAAC-E7C0-871C-5B7E-3A019ADBE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961299"/>
            <a:ext cx="7124700" cy="39536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15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Caso de Uso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FFA465C-7CE5-D814-7408-3D3A8D63D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54" y="914400"/>
            <a:ext cx="7144086" cy="384249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16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Actividades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E4A3624-E769-EBE4-403F-84450073B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235" y="914400"/>
            <a:ext cx="7111530" cy="408343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17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Estados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34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948289C-7421-ABE1-E356-B84CA2D6D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97" y="971386"/>
            <a:ext cx="7674005" cy="377222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18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Objetos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35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9B6BF25-71FD-58CE-D4A8-46D6B4843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" y="1846453"/>
            <a:ext cx="7825740" cy="202209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19 — </a:t>
            </a:r>
            <a:r>
              <a:rPr lang="en-US" sz="3000" b="1" dirty="0" err="1">
                <a:solidFill>
                  <a:schemeClr val="tx2"/>
                </a:solidFill>
              </a:rPr>
              <a:t>Diagra</a:t>
            </a:r>
            <a:r>
              <a:rPr lang="en-US" dirty="0" err="1"/>
              <a:t>ma</a:t>
            </a:r>
            <a:r>
              <a:rPr lang="en-US" dirty="0"/>
              <a:t> de </a:t>
            </a:r>
            <a:r>
              <a:rPr lang="en-US" dirty="0" err="1"/>
              <a:t>Comunicacion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7B52BD-AF49-F6AD-51D3-1F06BD5BE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659016"/>
            <a:ext cx="7978140" cy="239696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20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Tiempo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37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003262-E7D9-5365-B015-0B7B529ED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914400"/>
            <a:ext cx="772668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Diagrama 21 — </a:t>
            </a:r>
            <a:r>
              <a:rPr lang="en-US" sz="3000" b="1" dirty="0" err="1">
                <a:solidFill>
                  <a:schemeClr val="tx2"/>
                </a:solidFill>
              </a:rPr>
              <a:t>Diagrama</a:t>
            </a:r>
            <a:r>
              <a:rPr lang="en-US" sz="3000" b="1" dirty="0">
                <a:solidFill>
                  <a:schemeClr val="tx2"/>
                </a:solidFill>
              </a:rPr>
              <a:t> de </a:t>
            </a:r>
            <a:r>
              <a:rPr lang="en-US" sz="3000" b="1" dirty="0" err="1">
                <a:solidFill>
                  <a:schemeClr val="tx2"/>
                </a:solidFill>
              </a:rPr>
              <a:t>Interacciones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38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2E6574-4F96-6BC7-618D-1BBCB74A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07886"/>
            <a:ext cx="8229600" cy="25277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erre"/>
          <p:cNvSpPr/>
          <p:nvPr/>
        </p:nvSpPr>
        <p:spPr>
          <a:xfrm>
            <a:off x="5669280" y="-1097280"/>
            <a:ext cx="4754880" cy="4754880"/>
          </a:xfrm>
          <a:prstGeom prst="ellipse">
            <a:avLst/>
          </a:prstGeom>
          <a:solidFill>
            <a:schemeClr val="tx2">
              <a:alpha val="30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Vásquez — 23004631  ·  Mario Blanco — 24002578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f">
  <a:themeElements>
    <a:clrScheme name="Leaf">
      <a:dk1>
        <a:srgbClr val="10261A"/>
      </a:dk1>
      <a:lt1>
        <a:srgbClr val="FFFFFF"/>
      </a:lt1>
      <a:dk2>
        <a:srgbClr val="2F6A1A"/>
      </a:dk2>
      <a:lt2>
        <a:srgbClr val="FEF7FF"/>
      </a:lt2>
      <a:accent1>
        <a:srgbClr val="2F6A1A"/>
      </a:accent1>
      <a:accent2>
        <a:srgbClr val="78B040"/>
      </a:accent2>
      <a:accent3>
        <a:srgbClr val="6AC1E0"/>
      </a:accent3>
      <a:accent4>
        <a:srgbClr val="1F5C7F"/>
      </a:accent4>
      <a:accent5>
        <a:srgbClr val="F5A623"/>
      </a:accent5>
      <a:accent6>
        <a:srgbClr val="FF1A00"/>
      </a:accent6>
      <a:hlink>
        <a:srgbClr val="1F5C7F"/>
      </a:hlink>
      <a:folHlink>
        <a:srgbClr val="2F6A1A"/>
      </a:folHlink>
    </a:clrScheme>
    <a:fontScheme name="Leaf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1018</Words>
  <Application>Microsoft Office PowerPoint</Application>
  <PresentationFormat>Presentación en pantalla (16:9)</PresentationFormat>
  <Paragraphs>285</Paragraphs>
  <Slides>39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2" baseType="lpstr">
      <vt:lpstr>Arial</vt:lpstr>
      <vt:lpstr>Calibri</vt:lpstr>
      <vt:lpstr>Leaf</vt:lpstr>
      <vt:lpstr>Presentación de PowerPoint</vt:lpstr>
      <vt:lpstr>¿Por qué necesitamos LEAF?</vt:lpstr>
      <vt:lpstr>Objetivos del proyecto</vt:lpstr>
      <vt:lpstr>Usuarios del sistema</vt:lpstr>
      <vt:lpstr>Funcionalidades principales</vt:lpstr>
      <vt:lpstr>Vistas — Administrador</vt:lpstr>
      <vt:lpstr>Vistas — Mantenimiento</vt:lpstr>
      <vt:lpstr>Vistas — Residente</vt:lpstr>
      <vt:lpstr>Arquitectura del sistema</vt:lpstr>
      <vt:lpstr>Flujo de una lectura</vt:lpstr>
      <vt:lpstr>Servicios en AWS</vt:lpstr>
      <vt:lpstr>Modelo de datos — PostgreSQL</vt:lpstr>
      <vt:lpstr>Riesgos principales</vt:lpstr>
      <vt:lpstr>Calendarización</vt:lpstr>
      <vt:lpstr>Hacia la fase 2</vt:lpstr>
      <vt:lpstr>Diagramas del sistema</vt:lpstr>
      <vt:lpstr>Diagrama Entidad Relacion</vt:lpstr>
      <vt:lpstr>Diagrama 1 — Diagrama de clases</vt:lpstr>
      <vt:lpstr>Diagrama 2 — Diagrama de clases</vt:lpstr>
      <vt:lpstr>Diagrama 3 — Diagrama de Componentes</vt:lpstr>
      <vt:lpstr>Diagrama 4 — Diagrama de Componentes</vt:lpstr>
      <vt:lpstr>Diagrama 5 — Diagrama de Despliegue</vt:lpstr>
      <vt:lpstr>Diagrama 6 — Diagrama de Despliegue</vt:lpstr>
      <vt:lpstr>Diagrama 7 — Diagrama de Estructura Compuesta</vt:lpstr>
      <vt:lpstr>Diagrama 8 — Diagrama de Estructura</vt:lpstr>
      <vt:lpstr>Diagrama 9 — Diagrama de Paquetes</vt:lpstr>
      <vt:lpstr>Diagrama 10 — Diagrama de Paquetes</vt:lpstr>
      <vt:lpstr>Diagrama 11 — Diagrama de Perfiles</vt:lpstr>
      <vt:lpstr>Diagrama 12 — Diagrama de Perfiles</vt:lpstr>
      <vt:lpstr>Diagrama 13 — Diagrama de Secuencia</vt:lpstr>
      <vt:lpstr>Diagrama 14 — Diagrama de Secuencia</vt:lpstr>
      <vt:lpstr>Diagrama 15 — Diagrama de Caso de Uso</vt:lpstr>
      <vt:lpstr>Diagrama 16 — Diagrama de Actividades</vt:lpstr>
      <vt:lpstr>Diagrama 17 — Diagrama de Estados</vt:lpstr>
      <vt:lpstr>Diagrama 18 — Diagrama de Objetos</vt:lpstr>
      <vt:lpstr>Diagrama 19 — Diagrama de Comunicacion</vt:lpstr>
      <vt:lpstr>Diagrama 20 — Diagrama de Tiempo</vt:lpstr>
      <vt:lpstr>Diagrama 21 — Diagrama de Interacciones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Leaf — Sistema de lectura y monitoreo de contadores de agua</dc:title>
  <dc:subject>PptxGenJS Presentation</dc:subject>
  <dc:creator>Pablo Vásquez, Mario Blanco</dc:creator>
  <cp:lastModifiedBy>Pablo Vasquez Aldana</cp:lastModifiedBy>
  <cp:revision>3</cp:revision>
  <dcterms:created xsi:type="dcterms:W3CDTF">2026-10-26T02:58:40Z</dcterms:created>
  <dcterms:modified xsi:type="dcterms:W3CDTF">2026-10-30T23:20:54Z</dcterms:modified>
</cp:coreProperties>
</file>